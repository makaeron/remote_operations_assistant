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11338560" cy="6172200"/>
          </a:xfrm>
          <a:prstGeom prst="rect">
            <a:avLst/>
          </a:prstGeom>
          <a:solidFill>
            <a:srgbClr val="FFFFFF">
              <a:alpha val="0"/>
            </a:srgbClr>
          </a:solidFill>
          <a:ln w="12700">
            <a:solidFill>
              <a:srgbClr val="D0D0D0"/>
            </a:solidFill>
            <a:prstDash val="solid"/>
          </a:ln>
        </p:spPr>
      </p:sp>
      <p:sp>
        <p:nvSpPr>
          <p:cNvPr id="3" name="Shape 1"/>
          <p:cNvSpPr/>
          <p:nvPr/>
        </p:nvSpPr>
        <p:spPr>
          <a:xfrm>
            <a:off x="640080" y="960120"/>
            <a:ext cx="10881360" cy="0"/>
          </a:xfrm>
          <a:prstGeom prst="line">
            <a:avLst/>
          </a:prstGeom>
          <a:noFill/>
          <a:ln w="12700">
            <a:solidFill>
              <a:srgbClr val="C9C9C9"/>
            </a:solidFill>
            <a:prstDash val="solid"/>
          </a:ln>
        </p:spPr>
      </p:sp>
      <p:sp>
        <p:nvSpPr>
          <p:cNvPr id="4" name="Text 2"/>
          <p:cNvSpPr/>
          <p:nvPr/>
        </p:nvSpPr>
        <p:spPr>
          <a:xfrm>
            <a:off x="749808" y="438912"/>
            <a:ext cx="5303520" cy="274320"/>
          </a:xfrm>
          <a:prstGeom prst="rect">
            <a:avLst/>
          </a:prstGeom>
          <a:noFill/>
          <a:ln/>
        </p:spPr>
        <p:txBody>
          <a:bodyPr wrap="square" rtlCol="0" anchor="ctr"/>
          <a:lstStyle/>
          <a:p>
            <a:pPr indent="0" marL="0">
              <a:buNone/>
            </a:pPr>
            <a:r>
              <a:rPr lang="en-US" sz="1100" dirty="0">
                <a:solidFill>
                  <a:srgbClr val="666666"/>
                </a:solidFill>
              </a:rPr>
              <a:t>Remote Operation Assistance</a:t>
            </a:r>
            <a:endParaRPr lang="en-US" sz="1100" dirty="0"/>
          </a:p>
        </p:txBody>
      </p:sp>
      <p:sp>
        <p:nvSpPr>
          <p:cNvPr id="5" name="Text 3"/>
          <p:cNvSpPr/>
          <p:nvPr/>
        </p:nvSpPr>
        <p:spPr>
          <a:xfrm>
            <a:off x="10972800" y="6400800"/>
            <a:ext cx="457200" cy="182880"/>
          </a:xfrm>
          <a:prstGeom prst="rect">
            <a:avLst/>
          </a:prstGeom>
          <a:noFill/>
          <a:ln/>
        </p:spPr>
        <p:txBody>
          <a:bodyPr wrap="square" rtlCol="0" anchor="ctr"/>
          <a:lstStyle/>
          <a:p>
            <a:pPr algn="r" indent="0" marL="0">
              <a:buNone/>
            </a:pPr>
            <a:r>
              <a:rPr lang="en-US" sz="900" dirty="0">
                <a:solidFill>
                  <a:srgbClr val="777777"/>
                </a:solidFill>
              </a:rPr>
              <a:t>15</a:t>
            </a:r>
            <a:endParaRPr lang="en-US" sz="9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417320"/>
            <a:ext cx="7863840" cy="548640"/>
          </a:xfrm>
          <a:prstGeom prst="rect">
            <a:avLst/>
          </a:prstGeom>
          <a:noFill/>
          <a:ln/>
        </p:spPr>
        <p:txBody>
          <a:bodyPr wrap="square" rtlCol="0" anchor="ctr"/>
          <a:lstStyle/>
          <a:p>
            <a:pPr indent="0" marL="0">
              <a:buNone/>
            </a:pPr>
            <a:r>
              <a:rPr lang="en-US" sz="2800" b="1" dirty="0">
                <a:solidFill>
                  <a:srgbClr val="111111"/>
                </a:solidFill>
              </a:rPr>
              <a:t>Remote Operation Assistance</a:t>
            </a:r>
            <a:endParaRPr lang="en-US" sz="2800" dirty="0"/>
          </a:p>
        </p:txBody>
      </p:sp>
      <p:sp>
        <p:nvSpPr>
          <p:cNvPr id="3" name="Text 1"/>
          <p:cNvSpPr/>
          <p:nvPr/>
        </p:nvSpPr>
        <p:spPr>
          <a:xfrm>
            <a:off x="914400" y="2057400"/>
            <a:ext cx="5669280" cy="320040"/>
          </a:xfrm>
          <a:prstGeom prst="rect">
            <a:avLst/>
          </a:prstGeom>
          <a:noFill/>
          <a:ln/>
        </p:spPr>
        <p:txBody>
          <a:bodyPr wrap="square" rtlCol="0" anchor="ctr"/>
          <a:lstStyle/>
          <a:p>
            <a:pPr indent="0" marL="0">
              <a:buNone/>
            </a:pPr>
            <a:r>
              <a:rPr lang="en-US" sz="1800" dirty="0">
                <a:solidFill>
                  <a:srgbClr val="555555"/>
                </a:solidFill>
              </a:rPr>
              <a:t>Project Report and System Walkthrough</a:t>
            </a:r>
            <a:endParaRPr lang="en-US" sz="1800" dirty="0"/>
          </a:p>
        </p:txBody>
      </p:sp>
      <p:sp>
        <p:nvSpPr>
          <p:cNvPr id="4" name="Text 2"/>
          <p:cNvSpPr/>
          <p:nvPr/>
        </p:nvSpPr>
        <p:spPr>
          <a:xfrm>
            <a:off x="914400" y="2743200"/>
            <a:ext cx="6675120" cy="914400"/>
          </a:xfrm>
          <a:prstGeom prst="rect">
            <a:avLst/>
          </a:prstGeom>
          <a:noFill/>
          <a:ln/>
        </p:spPr>
        <p:txBody>
          <a:bodyPr wrap="square" rtlCol="0" anchor="ctr"/>
          <a:lstStyle/>
          <a:p>
            <a:pPr indent="0" marL="0">
              <a:buNone/>
            </a:pPr>
            <a:r>
              <a:rPr lang="en-US" sz="2000" dirty="0">
                <a:solidFill>
                  <a:srgbClr val="222222"/>
                </a:solidFill>
              </a:rPr>
              <a:t>Simple project presentation covering architecture, data flow, storage, APIs, runbooks, RAG, prioritization, and operator outputs.</a:t>
            </a:r>
            <a:endParaRPr lang="en-US" sz="2000" dirty="0"/>
          </a:p>
        </p:txBody>
      </p:sp>
      <p:sp>
        <p:nvSpPr>
          <p:cNvPr id="5" name="Shape 3"/>
          <p:cNvSpPr/>
          <p:nvPr/>
        </p:nvSpPr>
        <p:spPr>
          <a:xfrm>
            <a:off x="8046720" y="3566160"/>
            <a:ext cx="2743200" cy="1508760"/>
          </a:xfrm>
          <a:prstGeom prst="rect">
            <a:avLst/>
          </a:prstGeom>
          <a:solidFill>
            <a:srgbClr val="F7F7F7"/>
          </a:solidFill>
          <a:ln w="12700">
            <a:solidFill>
              <a:srgbClr val="A8A8A8"/>
            </a:solidFill>
            <a:prstDash val="solid"/>
          </a:ln>
        </p:spPr>
      </p:sp>
      <p:sp>
        <p:nvSpPr>
          <p:cNvPr id="6" name="Text 4"/>
          <p:cNvSpPr/>
          <p:nvPr/>
        </p:nvSpPr>
        <p:spPr>
          <a:xfrm>
            <a:off x="8211312" y="3675888"/>
            <a:ext cx="2414016" cy="219456"/>
          </a:xfrm>
          <a:prstGeom prst="rect">
            <a:avLst/>
          </a:prstGeom>
          <a:noFill/>
          <a:ln/>
        </p:spPr>
        <p:txBody>
          <a:bodyPr wrap="square" rtlCol="0" anchor="ctr"/>
          <a:lstStyle/>
          <a:p>
            <a:pPr indent="0" marL="0">
              <a:buNone/>
            </a:pPr>
            <a:r>
              <a:rPr lang="en-US" sz="1700" b="1" dirty="0">
                <a:solidFill>
                  <a:srgbClr val="111111"/>
                </a:solidFill>
              </a:rPr>
              <a:t>Purpose</a:t>
            </a:r>
            <a:endParaRPr lang="en-US" sz="1700" dirty="0"/>
          </a:p>
        </p:txBody>
      </p:sp>
      <p:sp>
        <p:nvSpPr>
          <p:cNvPr id="7" name="Text 5"/>
          <p:cNvSpPr/>
          <p:nvPr/>
        </p:nvSpPr>
        <p:spPr>
          <a:xfrm>
            <a:off x="8211312" y="3959352"/>
            <a:ext cx="2414016" cy="1005840"/>
          </a:xfrm>
          <a:prstGeom prst="rect">
            <a:avLst/>
          </a:prstGeom>
          <a:noFill/>
          <a:ln/>
        </p:spPr>
        <p:txBody>
          <a:bodyPr wrap="square" lIns="381" tIns="381" rIns="381" bIns="381" rtlCol="0" anchor="t"/>
          <a:lstStyle/>
          <a:p>
            <a:pPr indent="0" marL="0">
              <a:buNone/>
            </a:pPr>
            <a:r>
              <a:rPr lang="en-US" sz="1400" dirty="0">
                <a:solidFill>
                  <a:srgbClr val="222222"/>
                </a:solidFill>
              </a:rPr>
              <a:t>To explain how the project receives incidents, stores data, retrieves guidance, generates actions, and presents operator friendly results in a practical workflow.</a:t>
            </a:r>
            <a:endParaRPr lang="en-US" sz="1400" dirty="0"/>
          </a:p>
        </p:txBody>
      </p:sp>
      <p:sp>
        <p:nvSpPr>
          <p:cNvPr id="8" name="Shape 6"/>
          <p:cNvSpPr/>
          <p:nvPr/>
        </p:nvSpPr>
        <p:spPr>
          <a:xfrm>
            <a:off x="8046720" y="5257800"/>
            <a:ext cx="2743200" cy="822960"/>
          </a:xfrm>
          <a:prstGeom prst="rect">
            <a:avLst/>
          </a:prstGeom>
          <a:solidFill>
            <a:srgbClr val="F7F7F7"/>
          </a:solidFill>
          <a:ln w="12700">
            <a:solidFill>
              <a:srgbClr val="A8A8A8"/>
            </a:solidFill>
            <a:prstDash val="solid"/>
          </a:ln>
        </p:spPr>
      </p:sp>
      <p:sp>
        <p:nvSpPr>
          <p:cNvPr id="9" name="Text 7"/>
          <p:cNvSpPr/>
          <p:nvPr/>
        </p:nvSpPr>
        <p:spPr>
          <a:xfrm>
            <a:off x="8211312" y="5367528"/>
            <a:ext cx="2414016" cy="219456"/>
          </a:xfrm>
          <a:prstGeom prst="rect">
            <a:avLst/>
          </a:prstGeom>
          <a:noFill/>
          <a:ln/>
        </p:spPr>
        <p:txBody>
          <a:bodyPr wrap="square" rtlCol="0" anchor="ctr"/>
          <a:lstStyle/>
          <a:p>
            <a:pPr indent="0" marL="0">
              <a:buNone/>
            </a:pPr>
            <a:r>
              <a:rPr lang="en-US" sz="1700" b="1" dirty="0">
                <a:solidFill>
                  <a:srgbClr val="111111"/>
                </a:solidFill>
              </a:rPr>
              <a:t>Outcome</a:t>
            </a:r>
            <a:endParaRPr lang="en-US" sz="1700" dirty="0"/>
          </a:p>
        </p:txBody>
      </p:sp>
      <p:sp>
        <p:nvSpPr>
          <p:cNvPr id="10" name="Text 8"/>
          <p:cNvSpPr/>
          <p:nvPr/>
        </p:nvSpPr>
        <p:spPr>
          <a:xfrm>
            <a:off x="8211312" y="5650992"/>
            <a:ext cx="2414016" cy="320040"/>
          </a:xfrm>
          <a:prstGeom prst="rect">
            <a:avLst/>
          </a:prstGeom>
          <a:noFill/>
          <a:ln/>
        </p:spPr>
        <p:txBody>
          <a:bodyPr wrap="square" lIns="381" tIns="381" rIns="381" bIns="381" rtlCol="0" anchor="t"/>
          <a:lstStyle/>
          <a:p>
            <a:pPr indent="0" marL="0">
              <a:buNone/>
            </a:pPr>
            <a:r>
              <a:rPr lang="en-US" sz="1400" dirty="0">
                <a:solidFill>
                  <a:srgbClr val="222222"/>
                </a:solidFill>
              </a:rPr>
              <a:t>A grounded operational assistant that reduces alert noise and helps teams act faster across multiple sites.</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Agenda</a:t>
            </a:r>
            <a:endParaRPr lang="en-US" sz="2600" dirty="0"/>
          </a:p>
        </p:txBody>
      </p:sp>
      <p:sp>
        <p:nvSpPr>
          <p:cNvPr id="3" name="Text 1"/>
          <p:cNvSpPr/>
          <p:nvPr/>
        </p:nvSpPr>
        <p:spPr>
          <a:xfrm>
            <a:off x="914400" y="1371600"/>
            <a:ext cx="5029200" cy="4389120"/>
          </a:xfrm>
          <a:prstGeom prst="rect">
            <a:avLst/>
          </a:prstGeom>
          <a:noFill/>
          <a:ln/>
        </p:spPr>
        <p:txBody>
          <a:bodyPr wrap="square" lIns="635" tIns="635" rIns="635" bIns="635" rtlCol="0" anchor="t"/>
          <a:lstStyle/>
          <a:p>
            <a:pPr marL="223520" indent="-223520">
              <a:buSzPct val="100000"/>
              <a:buChar char="•"/>
            </a:pPr>
            <a:r>
              <a:rPr lang="en-US" sz="2200" dirty="0">
                <a:solidFill>
                  <a:srgbClr val="111111"/>
                </a:solidFill>
              </a:rPr>
              <a:t>Business problem and project goals</a:t>
            </a:r>
            <a:endParaRPr lang="en-US" sz="2200" dirty="0"/>
          </a:p>
          <a:p>
            <a:pPr marL="223520" indent="-223520">
              <a:buSzPct val="100000"/>
              <a:buChar char="•"/>
            </a:pPr>
            <a:r>
              <a:rPr lang="en-US" sz="2200" dirty="0">
                <a:solidFill>
                  <a:srgbClr val="111111"/>
                </a:solidFill>
              </a:rPr>
              <a:t>System architecture and end to end flow</a:t>
            </a:r>
            <a:endParaRPr lang="en-US" sz="2200" dirty="0"/>
          </a:p>
          <a:p>
            <a:pPr marL="223520" indent="-223520">
              <a:buSzPct val="100000"/>
              <a:buChar char="•"/>
            </a:pPr>
            <a:r>
              <a:rPr lang="en-US" sz="2200" dirty="0">
                <a:solidFill>
                  <a:srgbClr val="111111"/>
                </a:solidFill>
              </a:rPr>
              <a:t>SQLite data storage and API handling</a:t>
            </a:r>
            <a:endParaRPr lang="en-US" sz="2200" dirty="0"/>
          </a:p>
          <a:p>
            <a:pPr marL="223520" indent="-223520">
              <a:buSzPct val="100000"/>
              <a:buChar char="•"/>
            </a:pPr>
            <a:r>
              <a:rPr lang="en-US" sz="2200" dirty="0">
                <a:solidFill>
                  <a:srgbClr val="111111"/>
                </a:solidFill>
              </a:rPr>
              <a:t>Runbooks, text files, and RAG usage</a:t>
            </a:r>
            <a:endParaRPr lang="en-US" sz="2200" dirty="0"/>
          </a:p>
          <a:p>
            <a:pPr marL="223520" indent="-223520">
              <a:buSzPct val="100000"/>
              <a:buChar char="•"/>
            </a:pPr>
            <a:r>
              <a:rPr lang="en-US" sz="2200" dirty="0">
                <a:solidFill>
                  <a:srgbClr val="111111"/>
                </a:solidFill>
              </a:rPr>
              <a:t>Action generation and cross site prioritization</a:t>
            </a:r>
            <a:endParaRPr lang="en-US" sz="2200" dirty="0"/>
          </a:p>
          <a:p>
            <a:pPr marL="223520" indent="-223520">
              <a:buSzPct val="100000"/>
              <a:buChar char="•"/>
            </a:pPr>
            <a:r>
              <a:rPr lang="en-US" sz="2200" dirty="0">
                <a:solidFill>
                  <a:srgbClr val="111111"/>
                </a:solidFill>
              </a:rPr>
              <a:t>Operator output layer, limitations, and future improvements</a:t>
            </a:r>
            <a:endParaRPr lang="en-US" sz="2200" dirty="0"/>
          </a:p>
        </p:txBody>
      </p:sp>
      <p:sp>
        <p:nvSpPr>
          <p:cNvPr id="4" name="Shape 2"/>
          <p:cNvSpPr/>
          <p:nvPr/>
        </p:nvSpPr>
        <p:spPr>
          <a:xfrm>
            <a:off x="6400800" y="1554480"/>
            <a:ext cx="4572000" cy="1828800"/>
          </a:xfrm>
          <a:prstGeom prst="rect">
            <a:avLst/>
          </a:prstGeom>
          <a:solidFill>
            <a:srgbClr val="F7F7F7"/>
          </a:solidFill>
          <a:ln w="12700">
            <a:solidFill>
              <a:srgbClr val="A8A8A8"/>
            </a:solidFill>
            <a:prstDash val="solid"/>
          </a:ln>
        </p:spPr>
      </p:sp>
      <p:sp>
        <p:nvSpPr>
          <p:cNvPr id="5" name="Text 3"/>
          <p:cNvSpPr/>
          <p:nvPr/>
        </p:nvSpPr>
        <p:spPr>
          <a:xfrm>
            <a:off x="6565392" y="1664208"/>
            <a:ext cx="4242816" cy="219456"/>
          </a:xfrm>
          <a:prstGeom prst="rect">
            <a:avLst/>
          </a:prstGeom>
          <a:noFill/>
          <a:ln/>
        </p:spPr>
        <p:txBody>
          <a:bodyPr wrap="square" rtlCol="0" anchor="ctr"/>
          <a:lstStyle/>
          <a:p>
            <a:pPr indent="0" marL="0">
              <a:buNone/>
            </a:pPr>
            <a:r>
              <a:rPr lang="en-US" sz="1700" b="1" dirty="0">
                <a:solidFill>
                  <a:srgbClr val="111111"/>
                </a:solidFill>
              </a:rPr>
              <a:t>Project Style</a:t>
            </a:r>
            <a:endParaRPr lang="en-US" sz="1700" dirty="0"/>
          </a:p>
        </p:txBody>
      </p:sp>
      <p:sp>
        <p:nvSpPr>
          <p:cNvPr id="6" name="Text 4"/>
          <p:cNvSpPr/>
          <p:nvPr/>
        </p:nvSpPr>
        <p:spPr>
          <a:xfrm>
            <a:off x="6565392" y="1947672"/>
            <a:ext cx="4242816" cy="1325880"/>
          </a:xfrm>
          <a:prstGeom prst="rect">
            <a:avLst/>
          </a:prstGeom>
          <a:noFill/>
          <a:ln/>
        </p:spPr>
        <p:txBody>
          <a:bodyPr wrap="square" lIns="381" tIns="381" rIns="381" bIns="381" rtlCol="0" anchor="t"/>
          <a:lstStyle/>
          <a:p>
            <a:pPr indent="0" marL="0">
              <a:buNone/>
            </a:pPr>
            <a:r>
              <a:rPr lang="en-US" sz="1400" dirty="0">
                <a:solidFill>
                  <a:srgbClr val="222222"/>
                </a:solidFill>
              </a:rPr>
              <a:t>The presentation stays simple and human centered. It focuses on what the system does, how data moves, and how each layer supports the operator.</a:t>
            </a:r>
            <a:endParaRPr lang="en-US" sz="1400" dirty="0"/>
          </a:p>
        </p:txBody>
      </p:sp>
      <p:sp>
        <p:nvSpPr>
          <p:cNvPr id="7" name="Shape 5"/>
          <p:cNvSpPr/>
          <p:nvPr/>
        </p:nvSpPr>
        <p:spPr>
          <a:xfrm>
            <a:off x="6400800" y="3657600"/>
            <a:ext cx="4572000" cy="1737360"/>
          </a:xfrm>
          <a:prstGeom prst="rect">
            <a:avLst/>
          </a:prstGeom>
          <a:solidFill>
            <a:srgbClr val="F7F7F7"/>
          </a:solidFill>
          <a:ln w="12700">
            <a:solidFill>
              <a:srgbClr val="A8A8A8"/>
            </a:solidFill>
            <a:prstDash val="solid"/>
          </a:ln>
        </p:spPr>
      </p:sp>
      <p:sp>
        <p:nvSpPr>
          <p:cNvPr id="8" name="Text 6"/>
          <p:cNvSpPr/>
          <p:nvPr/>
        </p:nvSpPr>
        <p:spPr>
          <a:xfrm>
            <a:off x="6565392" y="3767328"/>
            <a:ext cx="4242816" cy="219456"/>
          </a:xfrm>
          <a:prstGeom prst="rect">
            <a:avLst/>
          </a:prstGeom>
          <a:noFill/>
          <a:ln/>
        </p:spPr>
        <p:txBody>
          <a:bodyPr wrap="square" rtlCol="0" anchor="ctr"/>
          <a:lstStyle/>
          <a:p>
            <a:pPr indent="0" marL="0">
              <a:buNone/>
            </a:pPr>
            <a:r>
              <a:rPr lang="en-US" sz="1700" b="1" dirty="0">
                <a:solidFill>
                  <a:srgbClr val="111111"/>
                </a:solidFill>
              </a:rPr>
              <a:t>Core Idea</a:t>
            </a:r>
            <a:endParaRPr lang="en-US" sz="1700" dirty="0"/>
          </a:p>
        </p:txBody>
      </p:sp>
      <p:sp>
        <p:nvSpPr>
          <p:cNvPr id="9" name="Text 7"/>
          <p:cNvSpPr/>
          <p:nvPr/>
        </p:nvSpPr>
        <p:spPr>
          <a:xfrm>
            <a:off x="6565392" y="4050792"/>
            <a:ext cx="4242816" cy="1234440"/>
          </a:xfrm>
          <a:prstGeom prst="rect">
            <a:avLst/>
          </a:prstGeom>
          <a:noFill/>
          <a:ln/>
        </p:spPr>
        <p:txBody>
          <a:bodyPr wrap="square" lIns="381" tIns="381" rIns="381" bIns="381" rtlCol="0" anchor="t"/>
          <a:lstStyle/>
          <a:p>
            <a:pPr indent="0" marL="0">
              <a:buNone/>
            </a:pPr>
            <a:r>
              <a:rPr lang="en-US" sz="1400" dirty="0">
                <a:solidFill>
                  <a:srgbClr val="222222"/>
                </a:solidFill>
              </a:rPr>
              <a:t>Convert noisy operational events into ranked incidents, grounded actions, and clear outputs that a human operator can trust and use.</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Problem Statement and Goals</a:t>
            </a:r>
            <a:endParaRPr lang="en-US" sz="2600" dirty="0"/>
          </a:p>
        </p:txBody>
      </p:sp>
      <p:sp>
        <p:nvSpPr>
          <p:cNvPr id="3" name="Shape 1"/>
          <p:cNvSpPr/>
          <p:nvPr/>
        </p:nvSpPr>
        <p:spPr>
          <a:xfrm>
            <a:off x="868680" y="1325880"/>
            <a:ext cx="5212080" cy="1920240"/>
          </a:xfrm>
          <a:prstGeom prst="rect">
            <a:avLst/>
          </a:prstGeom>
          <a:solidFill>
            <a:srgbClr val="F7F7F7"/>
          </a:solidFill>
          <a:ln w="12700">
            <a:solidFill>
              <a:srgbClr val="A8A8A8"/>
            </a:solidFill>
            <a:prstDash val="solid"/>
          </a:ln>
        </p:spPr>
      </p:sp>
      <p:sp>
        <p:nvSpPr>
          <p:cNvPr id="4" name="Text 2"/>
          <p:cNvSpPr/>
          <p:nvPr/>
        </p:nvSpPr>
        <p:spPr>
          <a:xfrm>
            <a:off x="1033272" y="1435608"/>
            <a:ext cx="4882896" cy="219456"/>
          </a:xfrm>
          <a:prstGeom prst="rect">
            <a:avLst/>
          </a:prstGeom>
          <a:noFill/>
          <a:ln/>
        </p:spPr>
        <p:txBody>
          <a:bodyPr wrap="square" rtlCol="0" anchor="ctr"/>
          <a:lstStyle/>
          <a:p>
            <a:pPr indent="0" marL="0">
              <a:buNone/>
            </a:pPr>
            <a:r>
              <a:rPr lang="en-US" sz="1700" b="1" dirty="0">
                <a:solidFill>
                  <a:srgbClr val="111111"/>
                </a:solidFill>
              </a:rPr>
              <a:t>Operational Problem</a:t>
            </a:r>
            <a:endParaRPr lang="en-US" sz="1700" dirty="0"/>
          </a:p>
        </p:txBody>
      </p:sp>
      <p:sp>
        <p:nvSpPr>
          <p:cNvPr id="5" name="Text 3"/>
          <p:cNvSpPr/>
          <p:nvPr/>
        </p:nvSpPr>
        <p:spPr>
          <a:xfrm>
            <a:off x="1033272" y="1719072"/>
            <a:ext cx="4882896" cy="1417320"/>
          </a:xfrm>
          <a:prstGeom prst="rect">
            <a:avLst/>
          </a:prstGeom>
          <a:noFill/>
          <a:ln/>
        </p:spPr>
        <p:txBody>
          <a:bodyPr wrap="square" lIns="381" tIns="381" rIns="381" bIns="381" rtlCol="0" anchor="t"/>
          <a:lstStyle/>
          <a:p>
            <a:pPr indent="0" marL="0">
              <a:buNone/>
            </a:pPr>
            <a:r>
              <a:rPr lang="en-US" sz="1400" dirty="0">
                <a:solidFill>
                  <a:srgbClr val="222222"/>
                </a:solidFill>
              </a:rPr>
              <a:t>Remote and industrial environments produce large volumes of alerts from devices, control systems, and monitoring tools. Raw alerts are difficult to interpret and often arrive without context or clear next steps.</a:t>
            </a:r>
            <a:endParaRPr lang="en-US" sz="1400" dirty="0"/>
          </a:p>
        </p:txBody>
      </p:sp>
      <p:sp>
        <p:nvSpPr>
          <p:cNvPr id="6" name="Shape 4"/>
          <p:cNvSpPr/>
          <p:nvPr/>
        </p:nvSpPr>
        <p:spPr>
          <a:xfrm>
            <a:off x="6217920" y="1325880"/>
            <a:ext cx="4846320" cy="1920240"/>
          </a:xfrm>
          <a:prstGeom prst="rect">
            <a:avLst/>
          </a:prstGeom>
          <a:solidFill>
            <a:srgbClr val="F7F7F7"/>
          </a:solidFill>
          <a:ln w="12700">
            <a:solidFill>
              <a:srgbClr val="A8A8A8"/>
            </a:solidFill>
            <a:prstDash val="solid"/>
          </a:ln>
        </p:spPr>
      </p:sp>
      <p:sp>
        <p:nvSpPr>
          <p:cNvPr id="7" name="Text 5"/>
          <p:cNvSpPr/>
          <p:nvPr/>
        </p:nvSpPr>
        <p:spPr>
          <a:xfrm>
            <a:off x="6382512" y="1435608"/>
            <a:ext cx="4517136" cy="219456"/>
          </a:xfrm>
          <a:prstGeom prst="rect">
            <a:avLst/>
          </a:prstGeom>
          <a:noFill/>
          <a:ln/>
        </p:spPr>
        <p:txBody>
          <a:bodyPr wrap="square" rtlCol="0" anchor="ctr"/>
          <a:lstStyle/>
          <a:p>
            <a:pPr indent="0" marL="0">
              <a:buNone/>
            </a:pPr>
            <a:r>
              <a:rPr lang="en-US" sz="1700" b="1" dirty="0">
                <a:solidFill>
                  <a:srgbClr val="111111"/>
                </a:solidFill>
              </a:rPr>
              <a:t>Project Goals</a:t>
            </a:r>
            <a:endParaRPr lang="en-US" sz="1700" dirty="0"/>
          </a:p>
        </p:txBody>
      </p:sp>
      <p:sp>
        <p:nvSpPr>
          <p:cNvPr id="8" name="Text 6"/>
          <p:cNvSpPr/>
          <p:nvPr/>
        </p:nvSpPr>
        <p:spPr>
          <a:xfrm>
            <a:off x="6382512" y="1719072"/>
            <a:ext cx="4517136" cy="1417320"/>
          </a:xfrm>
          <a:prstGeom prst="rect">
            <a:avLst/>
          </a:prstGeom>
          <a:noFill/>
          <a:ln/>
        </p:spPr>
        <p:txBody>
          <a:bodyPr wrap="square" lIns="381" tIns="381" rIns="381" bIns="381" rtlCol="0" anchor="t"/>
          <a:lstStyle/>
          <a:p>
            <a:pPr indent="0" marL="0">
              <a:buNone/>
            </a:pPr>
            <a:r>
              <a:rPr lang="en-US" sz="1400" dirty="0">
                <a:solidFill>
                  <a:srgbClr val="222222"/>
                </a:solidFill>
              </a:rPr>
              <a:t>Capture events through APIs, store them reliably, identify incidents, retrieve relevant procedures, recommend actions, and rank issues across sites so operators can focus on what matters first.</a:t>
            </a:r>
            <a:endParaRPr lang="en-US" sz="1400" dirty="0"/>
          </a:p>
        </p:txBody>
      </p:sp>
      <p:sp>
        <p:nvSpPr>
          <p:cNvPr id="9" name="Text 7"/>
          <p:cNvSpPr/>
          <p:nvPr/>
        </p:nvSpPr>
        <p:spPr>
          <a:xfrm>
            <a:off x="914400" y="3749040"/>
            <a:ext cx="10058400" cy="1920240"/>
          </a:xfrm>
          <a:prstGeom prst="rect">
            <a:avLst/>
          </a:prstGeom>
          <a:noFill/>
          <a:ln/>
        </p:spPr>
        <p:txBody>
          <a:bodyPr wrap="square" lIns="635" tIns="635" rIns="635" bIns="635" rtlCol="0" anchor="t"/>
          <a:lstStyle/>
          <a:p>
            <a:pPr marL="203200" indent="-203200">
              <a:buSzPct val="100000"/>
              <a:buChar char="•"/>
            </a:pPr>
            <a:r>
              <a:rPr lang="en-US" sz="2000" dirty="0">
                <a:solidFill>
                  <a:srgbClr val="111111"/>
                </a:solidFill>
              </a:rPr>
              <a:t>Reduce noise from raw event streams</a:t>
            </a:r>
            <a:endParaRPr lang="en-US" sz="2000" dirty="0"/>
          </a:p>
          <a:p>
            <a:pPr marL="203200" indent="-203200">
              <a:buSzPct val="100000"/>
              <a:buChar char="•"/>
            </a:pPr>
            <a:r>
              <a:rPr lang="en-US" sz="2000" dirty="0">
                <a:solidFill>
                  <a:srgbClr val="111111"/>
                </a:solidFill>
              </a:rPr>
              <a:t>Provide grounded recommendations from runbooks</a:t>
            </a:r>
            <a:endParaRPr lang="en-US" sz="2000" dirty="0"/>
          </a:p>
          <a:p>
            <a:pPr marL="203200" indent="-203200">
              <a:buSzPct val="100000"/>
              <a:buChar char="•"/>
            </a:pPr>
            <a:r>
              <a:rPr lang="en-US" sz="2000" dirty="0">
                <a:solidFill>
                  <a:srgbClr val="111111"/>
                </a:solidFill>
              </a:rPr>
              <a:t>Prioritize incidents across multiple sites</a:t>
            </a:r>
            <a:endParaRPr lang="en-US" sz="2000" dirty="0"/>
          </a:p>
          <a:p>
            <a:pPr marL="203200" indent="-203200">
              <a:buSzPct val="100000"/>
              <a:buChar char="•"/>
            </a:pPr>
            <a:r>
              <a:rPr lang="en-US" sz="2000" dirty="0">
                <a:solidFill>
                  <a:srgbClr val="111111"/>
                </a:solidFill>
              </a:rPr>
              <a:t>Expose results through operator friendly APIs or dashboards</a:t>
            </a:r>
            <a:endParaRPr lang="en-US" sz="20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System Architecture Overview</a:t>
            </a:r>
            <a:endParaRPr lang="en-US" sz="2600" dirty="0"/>
          </a:p>
        </p:txBody>
      </p:sp>
      <p:sp>
        <p:nvSpPr>
          <p:cNvPr id="3" name="Shape 1"/>
          <p:cNvSpPr/>
          <p:nvPr/>
        </p:nvSpPr>
        <p:spPr>
          <a:xfrm>
            <a:off x="822960" y="2011680"/>
            <a:ext cx="1600200" cy="1143000"/>
          </a:xfrm>
          <a:prstGeom prst="roundRect">
            <a:avLst/>
          </a:prstGeom>
          <a:solidFill>
            <a:srgbClr val="F6F6F6"/>
          </a:solidFill>
          <a:ln w="12700">
            <a:solidFill>
              <a:srgbClr val="808080"/>
            </a:solidFill>
            <a:prstDash val="solid"/>
          </a:ln>
        </p:spPr>
      </p:sp>
      <p:sp>
        <p:nvSpPr>
          <p:cNvPr id="4" name="Text 2"/>
          <p:cNvSpPr/>
          <p:nvPr/>
        </p:nvSpPr>
        <p:spPr>
          <a:xfrm>
            <a:off x="896112" y="2231136"/>
            <a:ext cx="1453896" cy="548640"/>
          </a:xfrm>
          <a:prstGeom prst="rect">
            <a:avLst/>
          </a:prstGeom>
          <a:noFill/>
          <a:ln/>
        </p:spPr>
        <p:txBody>
          <a:bodyPr wrap="square" rtlCol="0" anchor="ctr"/>
          <a:lstStyle/>
          <a:p>
            <a:pPr algn="ctr" indent="0" marL="0">
              <a:buNone/>
            </a:pPr>
            <a:r>
              <a:rPr lang="en-US" sz="1800" b="1" dirty="0">
                <a:solidFill>
                  <a:srgbClr val="111111"/>
                </a:solidFill>
              </a:rPr>
              <a:t>Event</a:t>
            </a:r>
            <a:endParaRPr lang="en-US" sz="1800" dirty="0"/>
          </a:p>
          <a:p>
            <a:pPr algn="ctr" indent="0" marL="0">
              <a:buNone/>
            </a:pPr>
            <a:r>
              <a:rPr lang="en-US" sz="1800" b="1" dirty="0">
                <a:solidFill>
                  <a:srgbClr val="111111"/>
                </a:solidFill>
              </a:rPr>
              <a:t>Ingestion</a:t>
            </a:r>
            <a:endParaRPr lang="en-US" sz="1800" dirty="0"/>
          </a:p>
        </p:txBody>
      </p:sp>
      <p:sp>
        <p:nvSpPr>
          <p:cNvPr id="5" name="Shape 3"/>
          <p:cNvSpPr/>
          <p:nvPr/>
        </p:nvSpPr>
        <p:spPr>
          <a:xfrm>
            <a:off x="2423160" y="2578608"/>
            <a:ext cx="320040" cy="0"/>
          </a:xfrm>
          <a:prstGeom prst="line">
            <a:avLst/>
          </a:prstGeom>
          <a:noFill/>
          <a:ln w="12700">
            <a:solidFill>
              <a:srgbClr val="666666"/>
            </a:solidFill>
            <a:prstDash val="solid"/>
            <a:headEnd type="none"/>
            <a:tailEnd type="triangle"/>
          </a:ln>
        </p:spPr>
      </p:sp>
      <p:sp>
        <p:nvSpPr>
          <p:cNvPr id="6" name="Shape 4"/>
          <p:cNvSpPr/>
          <p:nvPr/>
        </p:nvSpPr>
        <p:spPr>
          <a:xfrm>
            <a:off x="2743200" y="2011680"/>
            <a:ext cx="1600200" cy="1143000"/>
          </a:xfrm>
          <a:prstGeom prst="roundRect">
            <a:avLst/>
          </a:prstGeom>
          <a:solidFill>
            <a:srgbClr val="FFFFFF"/>
          </a:solidFill>
          <a:ln w="12700">
            <a:solidFill>
              <a:srgbClr val="808080"/>
            </a:solidFill>
            <a:prstDash val="solid"/>
          </a:ln>
        </p:spPr>
      </p:sp>
      <p:sp>
        <p:nvSpPr>
          <p:cNvPr id="7" name="Text 5"/>
          <p:cNvSpPr/>
          <p:nvPr/>
        </p:nvSpPr>
        <p:spPr>
          <a:xfrm>
            <a:off x="2816352" y="2231136"/>
            <a:ext cx="1453896" cy="548640"/>
          </a:xfrm>
          <a:prstGeom prst="rect">
            <a:avLst/>
          </a:prstGeom>
          <a:noFill/>
          <a:ln/>
        </p:spPr>
        <p:txBody>
          <a:bodyPr wrap="square" rtlCol="0" anchor="ctr"/>
          <a:lstStyle/>
          <a:p>
            <a:pPr algn="ctr" indent="0" marL="0">
              <a:buNone/>
            </a:pPr>
            <a:r>
              <a:rPr lang="en-US" sz="1800" b="1" dirty="0">
                <a:solidFill>
                  <a:srgbClr val="111111"/>
                </a:solidFill>
              </a:rPr>
              <a:t>Validation</a:t>
            </a:r>
            <a:endParaRPr lang="en-US" sz="1800" dirty="0"/>
          </a:p>
          <a:p>
            <a:pPr algn="ctr" indent="0" marL="0">
              <a:buNone/>
            </a:pPr>
            <a:r>
              <a:rPr lang="en-US" sz="1800" b="1" dirty="0">
                <a:solidFill>
                  <a:srgbClr val="111111"/>
                </a:solidFill>
              </a:rPr>
              <a:t>and Storage</a:t>
            </a:r>
            <a:endParaRPr lang="en-US" sz="1800" dirty="0"/>
          </a:p>
        </p:txBody>
      </p:sp>
      <p:sp>
        <p:nvSpPr>
          <p:cNvPr id="8" name="Shape 6"/>
          <p:cNvSpPr/>
          <p:nvPr/>
        </p:nvSpPr>
        <p:spPr>
          <a:xfrm>
            <a:off x="4343400" y="2578608"/>
            <a:ext cx="320040" cy="0"/>
          </a:xfrm>
          <a:prstGeom prst="line">
            <a:avLst/>
          </a:prstGeom>
          <a:noFill/>
          <a:ln w="12700">
            <a:solidFill>
              <a:srgbClr val="666666"/>
            </a:solidFill>
            <a:prstDash val="solid"/>
            <a:headEnd type="none"/>
            <a:tailEnd type="triangle"/>
          </a:ln>
        </p:spPr>
      </p:sp>
      <p:sp>
        <p:nvSpPr>
          <p:cNvPr id="9" name="Shape 7"/>
          <p:cNvSpPr/>
          <p:nvPr/>
        </p:nvSpPr>
        <p:spPr>
          <a:xfrm>
            <a:off x="4663440" y="2011680"/>
            <a:ext cx="1600200" cy="1143000"/>
          </a:xfrm>
          <a:prstGeom prst="roundRect">
            <a:avLst/>
          </a:prstGeom>
          <a:solidFill>
            <a:srgbClr val="F6F6F6"/>
          </a:solidFill>
          <a:ln w="12700">
            <a:solidFill>
              <a:srgbClr val="808080"/>
            </a:solidFill>
            <a:prstDash val="solid"/>
          </a:ln>
        </p:spPr>
      </p:sp>
      <p:sp>
        <p:nvSpPr>
          <p:cNvPr id="10" name="Text 8"/>
          <p:cNvSpPr/>
          <p:nvPr/>
        </p:nvSpPr>
        <p:spPr>
          <a:xfrm>
            <a:off x="4736592" y="2231136"/>
            <a:ext cx="1453896" cy="548640"/>
          </a:xfrm>
          <a:prstGeom prst="rect">
            <a:avLst/>
          </a:prstGeom>
          <a:noFill/>
          <a:ln/>
        </p:spPr>
        <p:txBody>
          <a:bodyPr wrap="square" rtlCol="0" anchor="ctr"/>
          <a:lstStyle/>
          <a:p>
            <a:pPr algn="ctr" indent="0" marL="0">
              <a:buNone/>
            </a:pPr>
            <a:r>
              <a:rPr lang="en-US" sz="1800" b="1" dirty="0">
                <a:solidFill>
                  <a:srgbClr val="111111"/>
                </a:solidFill>
              </a:rPr>
              <a:t>Incident</a:t>
            </a:r>
            <a:endParaRPr lang="en-US" sz="1800" dirty="0"/>
          </a:p>
          <a:p>
            <a:pPr algn="ctr" indent="0" marL="0">
              <a:buNone/>
            </a:pPr>
            <a:r>
              <a:rPr lang="en-US" sz="1800" b="1" dirty="0">
                <a:solidFill>
                  <a:srgbClr val="111111"/>
                </a:solidFill>
              </a:rPr>
              <a:t>Detection</a:t>
            </a:r>
            <a:endParaRPr lang="en-US" sz="1800" dirty="0"/>
          </a:p>
        </p:txBody>
      </p:sp>
      <p:sp>
        <p:nvSpPr>
          <p:cNvPr id="11" name="Shape 9"/>
          <p:cNvSpPr/>
          <p:nvPr/>
        </p:nvSpPr>
        <p:spPr>
          <a:xfrm>
            <a:off x="6263640" y="2578608"/>
            <a:ext cx="320040" cy="0"/>
          </a:xfrm>
          <a:prstGeom prst="line">
            <a:avLst/>
          </a:prstGeom>
          <a:noFill/>
          <a:ln w="12700">
            <a:solidFill>
              <a:srgbClr val="666666"/>
            </a:solidFill>
            <a:prstDash val="solid"/>
            <a:headEnd type="none"/>
            <a:tailEnd type="triangle"/>
          </a:ln>
        </p:spPr>
      </p:sp>
      <p:sp>
        <p:nvSpPr>
          <p:cNvPr id="12" name="Shape 10"/>
          <p:cNvSpPr/>
          <p:nvPr/>
        </p:nvSpPr>
        <p:spPr>
          <a:xfrm>
            <a:off x="6583680" y="2011680"/>
            <a:ext cx="1600200" cy="1143000"/>
          </a:xfrm>
          <a:prstGeom prst="roundRect">
            <a:avLst/>
          </a:prstGeom>
          <a:solidFill>
            <a:srgbClr val="FFFFFF"/>
          </a:solidFill>
          <a:ln w="12700">
            <a:solidFill>
              <a:srgbClr val="808080"/>
            </a:solidFill>
            <a:prstDash val="solid"/>
          </a:ln>
        </p:spPr>
      </p:sp>
      <p:sp>
        <p:nvSpPr>
          <p:cNvPr id="13" name="Text 11"/>
          <p:cNvSpPr/>
          <p:nvPr/>
        </p:nvSpPr>
        <p:spPr>
          <a:xfrm>
            <a:off x="6656832" y="2231136"/>
            <a:ext cx="1453896" cy="548640"/>
          </a:xfrm>
          <a:prstGeom prst="rect">
            <a:avLst/>
          </a:prstGeom>
          <a:noFill/>
          <a:ln/>
        </p:spPr>
        <p:txBody>
          <a:bodyPr wrap="square" rtlCol="0" anchor="ctr"/>
          <a:lstStyle/>
          <a:p>
            <a:pPr algn="ctr" indent="0" marL="0">
              <a:buNone/>
            </a:pPr>
            <a:r>
              <a:rPr lang="en-US" sz="1800" b="1" dirty="0">
                <a:solidFill>
                  <a:srgbClr val="111111"/>
                </a:solidFill>
              </a:rPr>
              <a:t>RAG and</a:t>
            </a:r>
            <a:endParaRPr lang="en-US" sz="1800" dirty="0"/>
          </a:p>
          <a:p>
            <a:pPr algn="ctr" indent="0" marL="0">
              <a:buNone/>
            </a:pPr>
            <a:r>
              <a:rPr lang="en-US" sz="1800" b="1" dirty="0">
                <a:solidFill>
                  <a:srgbClr val="111111"/>
                </a:solidFill>
              </a:rPr>
              <a:t>Knowledge</a:t>
            </a:r>
            <a:endParaRPr lang="en-US" sz="1800" dirty="0"/>
          </a:p>
        </p:txBody>
      </p:sp>
      <p:sp>
        <p:nvSpPr>
          <p:cNvPr id="14" name="Shape 12"/>
          <p:cNvSpPr/>
          <p:nvPr/>
        </p:nvSpPr>
        <p:spPr>
          <a:xfrm>
            <a:off x="8183880" y="2578608"/>
            <a:ext cx="320040" cy="0"/>
          </a:xfrm>
          <a:prstGeom prst="line">
            <a:avLst/>
          </a:prstGeom>
          <a:noFill/>
          <a:ln w="12700">
            <a:solidFill>
              <a:srgbClr val="666666"/>
            </a:solidFill>
            <a:prstDash val="solid"/>
            <a:headEnd type="none"/>
            <a:tailEnd type="triangle"/>
          </a:ln>
        </p:spPr>
      </p:sp>
      <p:sp>
        <p:nvSpPr>
          <p:cNvPr id="15" name="Shape 13"/>
          <p:cNvSpPr/>
          <p:nvPr/>
        </p:nvSpPr>
        <p:spPr>
          <a:xfrm>
            <a:off x="8503920" y="2011680"/>
            <a:ext cx="1600200" cy="1143000"/>
          </a:xfrm>
          <a:prstGeom prst="roundRect">
            <a:avLst/>
          </a:prstGeom>
          <a:solidFill>
            <a:srgbClr val="F6F6F6"/>
          </a:solidFill>
          <a:ln w="12700">
            <a:solidFill>
              <a:srgbClr val="808080"/>
            </a:solidFill>
            <a:prstDash val="solid"/>
          </a:ln>
        </p:spPr>
      </p:sp>
      <p:sp>
        <p:nvSpPr>
          <p:cNvPr id="16" name="Text 14"/>
          <p:cNvSpPr/>
          <p:nvPr/>
        </p:nvSpPr>
        <p:spPr>
          <a:xfrm>
            <a:off x="8577072" y="2231136"/>
            <a:ext cx="1453896" cy="548640"/>
          </a:xfrm>
          <a:prstGeom prst="rect">
            <a:avLst/>
          </a:prstGeom>
          <a:noFill/>
          <a:ln/>
        </p:spPr>
        <p:txBody>
          <a:bodyPr wrap="square" rtlCol="0" anchor="ctr"/>
          <a:lstStyle/>
          <a:p>
            <a:pPr algn="ctr" indent="0" marL="0">
              <a:buNone/>
            </a:pPr>
            <a:r>
              <a:rPr lang="en-US" sz="1800" b="1" dirty="0">
                <a:solidFill>
                  <a:srgbClr val="111111"/>
                </a:solidFill>
              </a:rPr>
              <a:t>Action</a:t>
            </a:r>
            <a:endParaRPr lang="en-US" sz="1800" dirty="0"/>
          </a:p>
          <a:p>
            <a:pPr algn="ctr" indent="0" marL="0">
              <a:buNone/>
            </a:pPr>
            <a:r>
              <a:rPr lang="en-US" sz="1800" b="1" dirty="0">
                <a:solidFill>
                  <a:srgbClr val="111111"/>
                </a:solidFill>
              </a:rPr>
              <a:t>Generation</a:t>
            </a:r>
            <a:endParaRPr lang="en-US" sz="1800" dirty="0"/>
          </a:p>
        </p:txBody>
      </p:sp>
      <p:sp>
        <p:nvSpPr>
          <p:cNvPr id="17" name="Shape 15"/>
          <p:cNvSpPr/>
          <p:nvPr/>
        </p:nvSpPr>
        <p:spPr>
          <a:xfrm>
            <a:off x="10104120" y="2578608"/>
            <a:ext cx="320040" cy="0"/>
          </a:xfrm>
          <a:prstGeom prst="line">
            <a:avLst/>
          </a:prstGeom>
          <a:noFill/>
          <a:ln w="12700">
            <a:solidFill>
              <a:srgbClr val="666666"/>
            </a:solidFill>
            <a:prstDash val="solid"/>
            <a:headEnd type="none"/>
            <a:tailEnd type="triangle"/>
          </a:ln>
        </p:spPr>
      </p:sp>
      <p:sp>
        <p:nvSpPr>
          <p:cNvPr id="18" name="Shape 16"/>
          <p:cNvSpPr/>
          <p:nvPr/>
        </p:nvSpPr>
        <p:spPr>
          <a:xfrm>
            <a:off x="10149840" y="2011680"/>
            <a:ext cx="1600200" cy="1143000"/>
          </a:xfrm>
          <a:prstGeom prst="roundRect">
            <a:avLst/>
          </a:prstGeom>
          <a:solidFill>
            <a:srgbClr val="FFFFFF"/>
          </a:solidFill>
          <a:ln w="12700">
            <a:solidFill>
              <a:srgbClr val="808080"/>
            </a:solidFill>
            <a:prstDash val="solid"/>
          </a:ln>
        </p:spPr>
      </p:sp>
      <p:sp>
        <p:nvSpPr>
          <p:cNvPr id="19" name="Text 17"/>
          <p:cNvSpPr/>
          <p:nvPr/>
        </p:nvSpPr>
        <p:spPr>
          <a:xfrm>
            <a:off x="10222992" y="2231136"/>
            <a:ext cx="1453896" cy="548640"/>
          </a:xfrm>
          <a:prstGeom prst="rect">
            <a:avLst/>
          </a:prstGeom>
          <a:noFill/>
          <a:ln/>
        </p:spPr>
        <p:txBody>
          <a:bodyPr wrap="square" rtlCol="0" anchor="ctr"/>
          <a:lstStyle/>
          <a:p>
            <a:pPr algn="ctr" indent="0" marL="0">
              <a:buNone/>
            </a:pPr>
            <a:r>
              <a:rPr lang="en-US" sz="1800" b="1" dirty="0">
                <a:solidFill>
                  <a:srgbClr val="111111"/>
                </a:solidFill>
              </a:rPr>
              <a:t>Operator</a:t>
            </a:r>
            <a:endParaRPr lang="en-US" sz="1800" dirty="0"/>
          </a:p>
          <a:p>
            <a:pPr algn="ctr" indent="0" marL="0">
              <a:buNone/>
            </a:pPr>
            <a:r>
              <a:rPr lang="en-US" sz="1800" b="1" dirty="0">
                <a:solidFill>
                  <a:srgbClr val="111111"/>
                </a:solidFill>
              </a:rPr>
              <a:t>Output</a:t>
            </a:r>
            <a:endParaRPr lang="en-US" sz="1800" dirty="0"/>
          </a:p>
        </p:txBody>
      </p:sp>
      <p:sp>
        <p:nvSpPr>
          <p:cNvPr id="20" name="Text 18"/>
          <p:cNvSpPr/>
          <p:nvPr/>
        </p:nvSpPr>
        <p:spPr>
          <a:xfrm>
            <a:off x="914400" y="3794760"/>
            <a:ext cx="10058400" cy="457200"/>
          </a:xfrm>
          <a:prstGeom prst="rect">
            <a:avLst/>
          </a:prstGeom>
          <a:noFill/>
          <a:ln/>
        </p:spPr>
        <p:txBody>
          <a:bodyPr wrap="square" rtlCol="0" anchor="ctr"/>
          <a:lstStyle/>
          <a:p>
            <a:pPr indent="0" marL="0">
              <a:buNone/>
            </a:pPr>
            <a:r>
              <a:rPr lang="en-US" sz="1800" dirty="0">
                <a:solidFill>
                  <a:srgbClr val="222222"/>
                </a:solidFill>
              </a:rPr>
              <a:t>This is the core processing path. Each layer has a specific role and feeds the next layer with cleaner, more useful information.</a:t>
            </a:r>
            <a:endParaRPr lang="en-US" sz="1800" dirty="0"/>
          </a:p>
        </p:txBody>
      </p:sp>
      <p:sp>
        <p:nvSpPr>
          <p:cNvPr id="21" name="Shape 19"/>
          <p:cNvSpPr/>
          <p:nvPr/>
        </p:nvSpPr>
        <p:spPr>
          <a:xfrm>
            <a:off x="914400" y="4480560"/>
            <a:ext cx="10149840" cy="1234440"/>
          </a:xfrm>
          <a:prstGeom prst="rect">
            <a:avLst/>
          </a:prstGeom>
          <a:solidFill>
            <a:srgbClr val="F7F7F7"/>
          </a:solidFill>
          <a:ln w="12700">
            <a:solidFill>
              <a:srgbClr val="A8A8A8"/>
            </a:solidFill>
            <a:prstDash val="solid"/>
          </a:ln>
        </p:spPr>
      </p:sp>
      <p:sp>
        <p:nvSpPr>
          <p:cNvPr id="22" name="Text 20"/>
          <p:cNvSpPr/>
          <p:nvPr/>
        </p:nvSpPr>
        <p:spPr>
          <a:xfrm>
            <a:off x="1078992" y="4590288"/>
            <a:ext cx="9820656" cy="219456"/>
          </a:xfrm>
          <a:prstGeom prst="rect">
            <a:avLst/>
          </a:prstGeom>
          <a:noFill/>
          <a:ln/>
        </p:spPr>
        <p:txBody>
          <a:bodyPr wrap="square" rtlCol="0" anchor="ctr"/>
          <a:lstStyle/>
          <a:p>
            <a:pPr indent="0" marL="0">
              <a:buNone/>
            </a:pPr>
            <a:r>
              <a:rPr lang="en-US" sz="1700" b="1" dirty="0">
                <a:solidFill>
                  <a:srgbClr val="111111"/>
                </a:solidFill>
              </a:rPr>
              <a:t>Technology View</a:t>
            </a:r>
            <a:endParaRPr lang="en-US" sz="1700" dirty="0"/>
          </a:p>
        </p:txBody>
      </p:sp>
      <p:sp>
        <p:nvSpPr>
          <p:cNvPr id="23" name="Text 21"/>
          <p:cNvSpPr/>
          <p:nvPr/>
        </p:nvSpPr>
        <p:spPr>
          <a:xfrm>
            <a:off x="1078992" y="4873752"/>
            <a:ext cx="9820656" cy="731520"/>
          </a:xfrm>
          <a:prstGeom prst="rect">
            <a:avLst/>
          </a:prstGeom>
          <a:noFill/>
          <a:ln/>
        </p:spPr>
        <p:txBody>
          <a:bodyPr wrap="square" lIns="381" tIns="381" rIns="381" bIns="381" rtlCol="0" anchor="t"/>
          <a:lstStyle/>
          <a:p>
            <a:pPr indent="0" marL="0">
              <a:buNone/>
            </a:pPr>
            <a:r>
              <a:rPr lang="en-US" sz="1400" dirty="0">
                <a:solidFill>
                  <a:srgbClr val="222222"/>
                </a:solidFill>
              </a:rPr>
              <a:t>FastAPI handles APIs. SQLite stores project data. Python services process events, retrieve knowledge, score incidents, and prepare recommendations.</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End to End Workflow</a:t>
            </a:r>
            <a:endParaRPr lang="en-US" sz="2600" dirty="0"/>
          </a:p>
        </p:txBody>
      </p:sp>
      <p:sp>
        <p:nvSpPr>
          <p:cNvPr id="3" name="Shape 1"/>
          <p:cNvSpPr/>
          <p:nvPr/>
        </p:nvSpPr>
        <p:spPr>
          <a:xfrm>
            <a:off x="914400" y="1325880"/>
            <a:ext cx="384048" cy="384048"/>
          </a:xfrm>
          <a:prstGeom prst="ellipse">
            <a:avLst/>
          </a:prstGeom>
          <a:solidFill>
            <a:srgbClr val="F0F0F0"/>
          </a:solidFill>
          <a:ln w="12700">
            <a:solidFill>
              <a:srgbClr val="777777"/>
            </a:solidFill>
            <a:prstDash val="solid"/>
          </a:ln>
        </p:spPr>
      </p:sp>
      <p:sp>
        <p:nvSpPr>
          <p:cNvPr id="4" name="Text 2"/>
          <p:cNvSpPr/>
          <p:nvPr/>
        </p:nvSpPr>
        <p:spPr>
          <a:xfrm>
            <a:off x="914400" y="1389888"/>
            <a:ext cx="384048" cy="182880"/>
          </a:xfrm>
          <a:prstGeom prst="rect">
            <a:avLst/>
          </a:prstGeom>
          <a:noFill/>
          <a:ln/>
        </p:spPr>
        <p:txBody>
          <a:bodyPr wrap="square" rtlCol="0" anchor="ctr"/>
          <a:lstStyle/>
          <a:p>
            <a:pPr algn="ctr" indent="0" marL="0">
              <a:buNone/>
            </a:pPr>
            <a:r>
              <a:rPr lang="en-US" sz="1600" b="1" dirty="0">
                <a:solidFill>
                  <a:srgbClr val="111111"/>
                </a:solidFill>
              </a:rPr>
              <a:t>1</a:t>
            </a:r>
            <a:endParaRPr lang="en-US" sz="1600" dirty="0"/>
          </a:p>
        </p:txBody>
      </p:sp>
      <p:sp>
        <p:nvSpPr>
          <p:cNvPr id="5" name="Text 3"/>
          <p:cNvSpPr/>
          <p:nvPr/>
        </p:nvSpPr>
        <p:spPr>
          <a:xfrm>
            <a:off x="1463040" y="1316736"/>
            <a:ext cx="8961120" cy="292608"/>
          </a:xfrm>
          <a:prstGeom prst="rect">
            <a:avLst/>
          </a:prstGeom>
          <a:noFill/>
          <a:ln/>
        </p:spPr>
        <p:txBody>
          <a:bodyPr wrap="square" rtlCol="0" anchor="ctr"/>
          <a:lstStyle/>
          <a:p>
            <a:pPr indent="0" marL="0">
              <a:buNone/>
            </a:pPr>
            <a:r>
              <a:rPr lang="en-US" sz="1900" dirty="0">
                <a:solidFill>
                  <a:srgbClr val="111111"/>
                </a:solidFill>
              </a:rPr>
              <a:t>POST event arrives from an external source or test client</a:t>
            </a:r>
            <a:endParaRPr lang="en-US" sz="1900" dirty="0"/>
          </a:p>
        </p:txBody>
      </p:sp>
      <p:sp>
        <p:nvSpPr>
          <p:cNvPr id="6" name="Shape 4"/>
          <p:cNvSpPr/>
          <p:nvPr/>
        </p:nvSpPr>
        <p:spPr>
          <a:xfrm>
            <a:off x="1106424" y="1709928"/>
            <a:ext cx="0" cy="365760"/>
          </a:xfrm>
          <a:prstGeom prst="line">
            <a:avLst/>
          </a:prstGeom>
          <a:noFill/>
          <a:ln w="12700">
            <a:solidFill>
              <a:srgbClr val="B0B0B0"/>
            </a:solidFill>
            <a:prstDash val="solid"/>
          </a:ln>
        </p:spPr>
      </p:sp>
      <p:sp>
        <p:nvSpPr>
          <p:cNvPr id="7" name="Shape 5"/>
          <p:cNvSpPr/>
          <p:nvPr/>
        </p:nvSpPr>
        <p:spPr>
          <a:xfrm>
            <a:off x="914400" y="2084832"/>
            <a:ext cx="384048" cy="384048"/>
          </a:xfrm>
          <a:prstGeom prst="ellipse">
            <a:avLst/>
          </a:prstGeom>
          <a:solidFill>
            <a:srgbClr val="F0F0F0"/>
          </a:solidFill>
          <a:ln w="12700">
            <a:solidFill>
              <a:srgbClr val="777777"/>
            </a:solidFill>
            <a:prstDash val="solid"/>
          </a:ln>
        </p:spPr>
      </p:sp>
      <p:sp>
        <p:nvSpPr>
          <p:cNvPr id="8" name="Text 6"/>
          <p:cNvSpPr/>
          <p:nvPr/>
        </p:nvSpPr>
        <p:spPr>
          <a:xfrm>
            <a:off x="914400" y="2148840"/>
            <a:ext cx="384048" cy="182880"/>
          </a:xfrm>
          <a:prstGeom prst="rect">
            <a:avLst/>
          </a:prstGeom>
          <a:noFill/>
          <a:ln/>
        </p:spPr>
        <p:txBody>
          <a:bodyPr wrap="square" rtlCol="0" anchor="ctr"/>
          <a:lstStyle/>
          <a:p>
            <a:pPr algn="ctr" indent="0" marL="0">
              <a:buNone/>
            </a:pPr>
            <a:r>
              <a:rPr lang="en-US" sz="1600" b="1" dirty="0">
                <a:solidFill>
                  <a:srgbClr val="111111"/>
                </a:solidFill>
              </a:rPr>
              <a:t>2</a:t>
            </a:r>
            <a:endParaRPr lang="en-US" sz="1600" dirty="0"/>
          </a:p>
        </p:txBody>
      </p:sp>
      <p:sp>
        <p:nvSpPr>
          <p:cNvPr id="9" name="Text 7"/>
          <p:cNvSpPr/>
          <p:nvPr/>
        </p:nvSpPr>
        <p:spPr>
          <a:xfrm>
            <a:off x="1463040" y="2075688"/>
            <a:ext cx="8961120" cy="292608"/>
          </a:xfrm>
          <a:prstGeom prst="rect">
            <a:avLst/>
          </a:prstGeom>
          <a:noFill/>
          <a:ln/>
        </p:spPr>
        <p:txBody>
          <a:bodyPr wrap="square" rtlCol="0" anchor="ctr"/>
          <a:lstStyle/>
          <a:p>
            <a:pPr indent="0" marL="0">
              <a:buNone/>
            </a:pPr>
            <a:r>
              <a:rPr lang="en-US" sz="1900" dirty="0">
                <a:solidFill>
                  <a:srgbClr val="111111"/>
                </a:solidFill>
              </a:rPr>
              <a:t>Payload is validated and stored in SQLite</a:t>
            </a:r>
            <a:endParaRPr lang="en-US" sz="1900" dirty="0"/>
          </a:p>
        </p:txBody>
      </p:sp>
      <p:sp>
        <p:nvSpPr>
          <p:cNvPr id="10" name="Shape 8"/>
          <p:cNvSpPr/>
          <p:nvPr/>
        </p:nvSpPr>
        <p:spPr>
          <a:xfrm>
            <a:off x="1106424" y="2468880"/>
            <a:ext cx="0" cy="365760"/>
          </a:xfrm>
          <a:prstGeom prst="line">
            <a:avLst/>
          </a:prstGeom>
          <a:noFill/>
          <a:ln w="12700">
            <a:solidFill>
              <a:srgbClr val="B0B0B0"/>
            </a:solidFill>
            <a:prstDash val="solid"/>
          </a:ln>
        </p:spPr>
      </p:sp>
      <p:sp>
        <p:nvSpPr>
          <p:cNvPr id="11" name="Shape 9"/>
          <p:cNvSpPr/>
          <p:nvPr/>
        </p:nvSpPr>
        <p:spPr>
          <a:xfrm>
            <a:off x="914400" y="2843784"/>
            <a:ext cx="384048" cy="384048"/>
          </a:xfrm>
          <a:prstGeom prst="ellipse">
            <a:avLst/>
          </a:prstGeom>
          <a:solidFill>
            <a:srgbClr val="F0F0F0"/>
          </a:solidFill>
          <a:ln w="12700">
            <a:solidFill>
              <a:srgbClr val="777777"/>
            </a:solidFill>
            <a:prstDash val="solid"/>
          </a:ln>
        </p:spPr>
      </p:sp>
      <p:sp>
        <p:nvSpPr>
          <p:cNvPr id="12" name="Text 10"/>
          <p:cNvSpPr/>
          <p:nvPr/>
        </p:nvSpPr>
        <p:spPr>
          <a:xfrm>
            <a:off x="914400" y="2907792"/>
            <a:ext cx="384048" cy="182880"/>
          </a:xfrm>
          <a:prstGeom prst="rect">
            <a:avLst/>
          </a:prstGeom>
          <a:noFill/>
          <a:ln/>
        </p:spPr>
        <p:txBody>
          <a:bodyPr wrap="square" rtlCol="0" anchor="ctr"/>
          <a:lstStyle/>
          <a:p>
            <a:pPr algn="ctr" indent="0" marL="0">
              <a:buNone/>
            </a:pPr>
            <a:r>
              <a:rPr lang="en-US" sz="1600" b="1" dirty="0">
                <a:solidFill>
                  <a:srgbClr val="111111"/>
                </a:solidFill>
              </a:rPr>
              <a:t>3</a:t>
            </a:r>
            <a:endParaRPr lang="en-US" sz="1600" dirty="0"/>
          </a:p>
        </p:txBody>
      </p:sp>
      <p:sp>
        <p:nvSpPr>
          <p:cNvPr id="13" name="Text 11"/>
          <p:cNvSpPr/>
          <p:nvPr/>
        </p:nvSpPr>
        <p:spPr>
          <a:xfrm>
            <a:off x="1463040" y="2834640"/>
            <a:ext cx="8961120" cy="292608"/>
          </a:xfrm>
          <a:prstGeom prst="rect">
            <a:avLst/>
          </a:prstGeom>
          <a:noFill/>
          <a:ln/>
        </p:spPr>
        <p:txBody>
          <a:bodyPr wrap="square" rtlCol="0" anchor="ctr"/>
          <a:lstStyle/>
          <a:p>
            <a:pPr indent="0" marL="0">
              <a:buNone/>
            </a:pPr>
            <a:r>
              <a:rPr lang="en-US" sz="1900" dirty="0">
                <a:solidFill>
                  <a:srgbClr val="111111"/>
                </a:solidFill>
              </a:rPr>
              <a:t>Rules or logic detect an incident or anomaly</a:t>
            </a:r>
            <a:endParaRPr lang="en-US" sz="1900" dirty="0"/>
          </a:p>
        </p:txBody>
      </p:sp>
      <p:sp>
        <p:nvSpPr>
          <p:cNvPr id="14" name="Shape 12"/>
          <p:cNvSpPr/>
          <p:nvPr/>
        </p:nvSpPr>
        <p:spPr>
          <a:xfrm>
            <a:off x="1106424" y="3227832"/>
            <a:ext cx="0" cy="365760"/>
          </a:xfrm>
          <a:prstGeom prst="line">
            <a:avLst/>
          </a:prstGeom>
          <a:noFill/>
          <a:ln w="12700">
            <a:solidFill>
              <a:srgbClr val="B0B0B0"/>
            </a:solidFill>
            <a:prstDash val="solid"/>
          </a:ln>
        </p:spPr>
      </p:sp>
      <p:sp>
        <p:nvSpPr>
          <p:cNvPr id="15" name="Shape 13"/>
          <p:cNvSpPr/>
          <p:nvPr/>
        </p:nvSpPr>
        <p:spPr>
          <a:xfrm>
            <a:off x="914400" y="3602736"/>
            <a:ext cx="384048" cy="384048"/>
          </a:xfrm>
          <a:prstGeom prst="ellipse">
            <a:avLst/>
          </a:prstGeom>
          <a:solidFill>
            <a:srgbClr val="F0F0F0"/>
          </a:solidFill>
          <a:ln w="12700">
            <a:solidFill>
              <a:srgbClr val="777777"/>
            </a:solidFill>
            <a:prstDash val="solid"/>
          </a:ln>
        </p:spPr>
      </p:sp>
      <p:sp>
        <p:nvSpPr>
          <p:cNvPr id="16" name="Text 14"/>
          <p:cNvSpPr/>
          <p:nvPr/>
        </p:nvSpPr>
        <p:spPr>
          <a:xfrm>
            <a:off x="914400" y="3666744"/>
            <a:ext cx="384048" cy="182880"/>
          </a:xfrm>
          <a:prstGeom prst="rect">
            <a:avLst/>
          </a:prstGeom>
          <a:noFill/>
          <a:ln/>
        </p:spPr>
        <p:txBody>
          <a:bodyPr wrap="square" rtlCol="0" anchor="ctr"/>
          <a:lstStyle/>
          <a:p>
            <a:pPr algn="ctr" indent="0" marL="0">
              <a:buNone/>
            </a:pPr>
            <a:r>
              <a:rPr lang="en-US" sz="1600" b="1" dirty="0">
                <a:solidFill>
                  <a:srgbClr val="111111"/>
                </a:solidFill>
              </a:rPr>
              <a:t>4</a:t>
            </a:r>
            <a:endParaRPr lang="en-US" sz="1600" dirty="0"/>
          </a:p>
        </p:txBody>
      </p:sp>
      <p:sp>
        <p:nvSpPr>
          <p:cNvPr id="17" name="Text 15"/>
          <p:cNvSpPr/>
          <p:nvPr/>
        </p:nvSpPr>
        <p:spPr>
          <a:xfrm>
            <a:off x="1463040" y="3593592"/>
            <a:ext cx="8961120" cy="292608"/>
          </a:xfrm>
          <a:prstGeom prst="rect">
            <a:avLst/>
          </a:prstGeom>
          <a:noFill/>
          <a:ln/>
        </p:spPr>
        <p:txBody>
          <a:bodyPr wrap="square" rtlCol="0" anchor="ctr"/>
          <a:lstStyle/>
          <a:p>
            <a:pPr indent="0" marL="0">
              <a:buNone/>
            </a:pPr>
            <a:r>
              <a:rPr lang="en-US" sz="1900" dirty="0">
                <a:solidFill>
                  <a:srgbClr val="111111"/>
                </a:solidFill>
              </a:rPr>
              <a:t>Relevant runbooks and text files are retrieved</a:t>
            </a:r>
            <a:endParaRPr lang="en-US" sz="1900" dirty="0"/>
          </a:p>
        </p:txBody>
      </p:sp>
      <p:sp>
        <p:nvSpPr>
          <p:cNvPr id="18" name="Shape 16"/>
          <p:cNvSpPr/>
          <p:nvPr/>
        </p:nvSpPr>
        <p:spPr>
          <a:xfrm>
            <a:off x="1106424" y="3986784"/>
            <a:ext cx="0" cy="365760"/>
          </a:xfrm>
          <a:prstGeom prst="line">
            <a:avLst/>
          </a:prstGeom>
          <a:noFill/>
          <a:ln w="12700">
            <a:solidFill>
              <a:srgbClr val="B0B0B0"/>
            </a:solidFill>
            <a:prstDash val="solid"/>
          </a:ln>
        </p:spPr>
      </p:sp>
      <p:sp>
        <p:nvSpPr>
          <p:cNvPr id="19" name="Shape 17"/>
          <p:cNvSpPr/>
          <p:nvPr/>
        </p:nvSpPr>
        <p:spPr>
          <a:xfrm>
            <a:off x="914400" y="4361688"/>
            <a:ext cx="384048" cy="384048"/>
          </a:xfrm>
          <a:prstGeom prst="ellipse">
            <a:avLst/>
          </a:prstGeom>
          <a:solidFill>
            <a:srgbClr val="F0F0F0"/>
          </a:solidFill>
          <a:ln w="12700">
            <a:solidFill>
              <a:srgbClr val="777777"/>
            </a:solidFill>
            <a:prstDash val="solid"/>
          </a:ln>
        </p:spPr>
      </p:sp>
      <p:sp>
        <p:nvSpPr>
          <p:cNvPr id="20" name="Text 18"/>
          <p:cNvSpPr/>
          <p:nvPr/>
        </p:nvSpPr>
        <p:spPr>
          <a:xfrm>
            <a:off x="914400" y="4425696"/>
            <a:ext cx="384048" cy="182880"/>
          </a:xfrm>
          <a:prstGeom prst="rect">
            <a:avLst/>
          </a:prstGeom>
          <a:noFill/>
          <a:ln/>
        </p:spPr>
        <p:txBody>
          <a:bodyPr wrap="square" rtlCol="0" anchor="ctr"/>
          <a:lstStyle/>
          <a:p>
            <a:pPr algn="ctr" indent="0" marL="0">
              <a:buNone/>
            </a:pPr>
            <a:r>
              <a:rPr lang="en-US" sz="1600" b="1" dirty="0">
                <a:solidFill>
                  <a:srgbClr val="111111"/>
                </a:solidFill>
              </a:rPr>
              <a:t>5</a:t>
            </a:r>
            <a:endParaRPr lang="en-US" sz="1600" dirty="0"/>
          </a:p>
        </p:txBody>
      </p:sp>
      <p:sp>
        <p:nvSpPr>
          <p:cNvPr id="21" name="Text 19"/>
          <p:cNvSpPr/>
          <p:nvPr/>
        </p:nvSpPr>
        <p:spPr>
          <a:xfrm>
            <a:off x="1463040" y="4352544"/>
            <a:ext cx="8961120" cy="292608"/>
          </a:xfrm>
          <a:prstGeom prst="rect">
            <a:avLst/>
          </a:prstGeom>
          <a:noFill/>
          <a:ln/>
        </p:spPr>
        <p:txBody>
          <a:bodyPr wrap="square" rtlCol="0" anchor="ctr"/>
          <a:lstStyle/>
          <a:p>
            <a:pPr indent="0" marL="0">
              <a:buNone/>
            </a:pPr>
            <a:r>
              <a:rPr lang="en-US" sz="1900" dirty="0">
                <a:solidFill>
                  <a:srgbClr val="111111"/>
                </a:solidFill>
              </a:rPr>
              <a:t>Recommended actions are generated</a:t>
            </a:r>
            <a:endParaRPr lang="en-US" sz="1900" dirty="0"/>
          </a:p>
        </p:txBody>
      </p:sp>
      <p:sp>
        <p:nvSpPr>
          <p:cNvPr id="22" name="Shape 20"/>
          <p:cNvSpPr/>
          <p:nvPr/>
        </p:nvSpPr>
        <p:spPr>
          <a:xfrm>
            <a:off x="1106424" y="4745736"/>
            <a:ext cx="0" cy="365760"/>
          </a:xfrm>
          <a:prstGeom prst="line">
            <a:avLst/>
          </a:prstGeom>
          <a:noFill/>
          <a:ln w="12700">
            <a:solidFill>
              <a:srgbClr val="B0B0B0"/>
            </a:solidFill>
            <a:prstDash val="solid"/>
          </a:ln>
        </p:spPr>
      </p:sp>
      <p:sp>
        <p:nvSpPr>
          <p:cNvPr id="23" name="Shape 21"/>
          <p:cNvSpPr/>
          <p:nvPr/>
        </p:nvSpPr>
        <p:spPr>
          <a:xfrm>
            <a:off x="914400" y="5120640"/>
            <a:ext cx="384048" cy="384048"/>
          </a:xfrm>
          <a:prstGeom prst="ellipse">
            <a:avLst/>
          </a:prstGeom>
          <a:solidFill>
            <a:srgbClr val="F0F0F0"/>
          </a:solidFill>
          <a:ln w="12700">
            <a:solidFill>
              <a:srgbClr val="777777"/>
            </a:solidFill>
            <a:prstDash val="solid"/>
          </a:ln>
        </p:spPr>
      </p:sp>
      <p:sp>
        <p:nvSpPr>
          <p:cNvPr id="24" name="Text 22"/>
          <p:cNvSpPr/>
          <p:nvPr/>
        </p:nvSpPr>
        <p:spPr>
          <a:xfrm>
            <a:off x="914400" y="5184648"/>
            <a:ext cx="384048" cy="182880"/>
          </a:xfrm>
          <a:prstGeom prst="rect">
            <a:avLst/>
          </a:prstGeom>
          <a:noFill/>
          <a:ln/>
        </p:spPr>
        <p:txBody>
          <a:bodyPr wrap="square" rtlCol="0" anchor="ctr"/>
          <a:lstStyle/>
          <a:p>
            <a:pPr algn="ctr" indent="0" marL="0">
              <a:buNone/>
            </a:pPr>
            <a:r>
              <a:rPr lang="en-US" sz="1600" b="1" dirty="0">
                <a:solidFill>
                  <a:srgbClr val="111111"/>
                </a:solidFill>
              </a:rPr>
              <a:t>6</a:t>
            </a:r>
            <a:endParaRPr lang="en-US" sz="1600" dirty="0"/>
          </a:p>
        </p:txBody>
      </p:sp>
      <p:sp>
        <p:nvSpPr>
          <p:cNvPr id="25" name="Text 23"/>
          <p:cNvSpPr/>
          <p:nvPr/>
        </p:nvSpPr>
        <p:spPr>
          <a:xfrm>
            <a:off x="1463040" y="5111496"/>
            <a:ext cx="8961120" cy="292608"/>
          </a:xfrm>
          <a:prstGeom prst="rect">
            <a:avLst/>
          </a:prstGeom>
          <a:noFill/>
          <a:ln/>
        </p:spPr>
        <p:txBody>
          <a:bodyPr wrap="square" rtlCol="0" anchor="ctr"/>
          <a:lstStyle/>
          <a:p>
            <a:pPr indent="0" marL="0">
              <a:buNone/>
            </a:pPr>
            <a:r>
              <a:rPr lang="en-US" sz="1900" dirty="0">
                <a:solidFill>
                  <a:srgbClr val="111111"/>
                </a:solidFill>
              </a:rPr>
              <a:t>Incidents are ranked across sites and shown to operators</a:t>
            </a:r>
            <a:endParaRPr lang="en-US" sz="1900" dirty="0"/>
          </a:p>
        </p:txBody>
      </p:sp>
      <p:sp>
        <p:nvSpPr>
          <p:cNvPr id="26" name="Text 24"/>
          <p:cNvSpPr/>
          <p:nvPr/>
        </p:nvSpPr>
        <p:spPr>
          <a:xfrm>
            <a:off x="914400" y="5623560"/>
            <a:ext cx="10058400" cy="182880"/>
          </a:xfrm>
          <a:prstGeom prst="rect">
            <a:avLst/>
          </a:prstGeom>
          <a:noFill/>
          <a:ln/>
        </p:spPr>
        <p:txBody>
          <a:bodyPr wrap="square" rtlCol="0" anchor="ctr"/>
          <a:lstStyle/>
          <a:p>
            <a:pPr indent="0" marL="0">
              <a:buNone/>
            </a:pPr>
            <a:r>
              <a:rPr lang="en-US" sz="1400" i="1" dirty="0">
                <a:solidFill>
                  <a:srgbClr val="444444"/>
                </a:solidFill>
              </a:rPr>
              <a:t>Result: The workflow converts a raw message into a ranked and explainable operator output instead of leaving teams with disconnected logs.</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SQLite Storage and Data Model</a:t>
            </a:r>
            <a:endParaRPr lang="en-US" sz="2600" dirty="0"/>
          </a:p>
        </p:txBody>
      </p:sp>
      <p:sp>
        <p:nvSpPr>
          <p:cNvPr id="3" name="Shape 1"/>
          <p:cNvSpPr/>
          <p:nvPr/>
        </p:nvSpPr>
        <p:spPr>
          <a:xfrm>
            <a:off x="868680" y="1325880"/>
            <a:ext cx="5029200" cy="1828800"/>
          </a:xfrm>
          <a:prstGeom prst="rect">
            <a:avLst/>
          </a:prstGeom>
          <a:solidFill>
            <a:srgbClr val="F7F7F7"/>
          </a:solidFill>
          <a:ln w="12700">
            <a:solidFill>
              <a:srgbClr val="A8A8A8"/>
            </a:solidFill>
            <a:prstDash val="solid"/>
          </a:ln>
        </p:spPr>
      </p:sp>
      <p:sp>
        <p:nvSpPr>
          <p:cNvPr id="4" name="Text 2"/>
          <p:cNvSpPr/>
          <p:nvPr/>
        </p:nvSpPr>
        <p:spPr>
          <a:xfrm>
            <a:off x="1033272" y="1435608"/>
            <a:ext cx="4700016" cy="219456"/>
          </a:xfrm>
          <a:prstGeom prst="rect">
            <a:avLst/>
          </a:prstGeom>
          <a:noFill/>
          <a:ln/>
        </p:spPr>
        <p:txBody>
          <a:bodyPr wrap="square" rtlCol="0" anchor="ctr"/>
          <a:lstStyle/>
          <a:p>
            <a:pPr indent="0" marL="0">
              <a:buNone/>
            </a:pPr>
            <a:r>
              <a:rPr lang="en-US" sz="1700" b="1" dirty="0">
                <a:solidFill>
                  <a:srgbClr val="111111"/>
                </a:solidFill>
              </a:rPr>
              <a:t>Connection Layer</a:t>
            </a:r>
            <a:endParaRPr lang="en-US" sz="1700" dirty="0"/>
          </a:p>
        </p:txBody>
      </p:sp>
      <p:sp>
        <p:nvSpPr>
          <p:cNvPr id="5" name="Text 3"/>
          <p:cNvSpPr/>
          <p:nvPr/>
        </p:nvSpPr>
        <p:spPr>
          <a:xfrm>
            <a:off x="1033272" y="1719072"/>
            <a:ext cx="4700016" cy="1325880"/>
          </a:xfrm>
          <a:prstGeom prst="rect">
            <a:avLst/>
          </a:prstGeom>
          <a:noFill/>
          <a:ln/>
        </p:spPr>
        <p:txBody>
          <a:bodyPr wrap="square" lIns="381" tIns="381" rIns="381" bIns="381" rtlCol="0" anchor="t"/>
          <a:lstStyle/>
          <a:p>
            <a:pPr indent="0" marL="0">
              <a:buNone/>
            </a:pPr>
            <a:r>
              <a:rPr lang="en-US" sz="1400" dirty="0">
                <a:solidFill>
                  <a:srgbClr val="222222"/>
                </a:solidFill>
              </a:rPr>
              <a:t>SQLite is usually connected through SQLAlchemy in a file such as db/session.py. The key function is get_db(), which opens a session for each request and closes it safely after use.</a:t>
            </a:r>
            <a:endParaRPr lang="en-US" sz="1400" dirty="0"/>
          </a:p>
        </p:txBody>
      </p:sp>
      <p:sp>
        <p:nvSpPr>
          <p:cNvPr id="6" name="Shape 4"/>
          <p:cNvSpPr/>
          <p:nvPr/>
        </p:nvSpPr>
        <p:spPr>
          <a:xfrm>
            <a:off x="6126480" y="1325880"/>
            <a:ext cx="4937760" cy="1828800"/>
          </a:xfrm>
          <a:prstGeom prst="rect">
            <a:avLst/>
          </a:prstGeom>
          <a:solidFill>
            <a:srgbClr val="F7F7F7"/>
          </a:solidFill>
          <a:ln w="12700">
            <a:solidFill>
              <a:srgbClr val="A8A8A8"/>
            </a:solidFill>
            <a:prstDash val="solid"/>
          </a:ln>
        </p:spPr>
      </p:sp>
      <p:sp>
        <p:nvSpPr>
          <p:cNvPr id="7" name="Text 5"/>
          <p:cNvSpPr/>
          <p:nvPr/>
        </p:nvSpPr>
        <p:spPr>
          <a:xfrm>
            <a:off x="6291072" y="1435608"/>
            <a:ext cx="4608576" cy="219456"/>
          </a:xfrm>
          <a:prstGeom prst="rect">
            <a:avLst/>
          </a:prstGeom>
          <a:noFill/>
          <a:ln/>
        </p:spPr>
        <p:txBody>
          <a:bodyPr wrap="square" rtlCol="0" anchor="ctr"/>
          <a:lstStyle/>
          <a:p>
            <a:pPr indent="0" marL="0">
              <a:buNone/>
            </a:pPr>
            <a:r>
              <a:rPr lang="en-US" sz="1700" b="1" dirty="0">
                <a:solidFill>
                  <a:srgbClr val="111111"/>
                </a:solidFill>
              </a:rPr>
              <a:t>Typical Tables</a:t>
            </a:r>
            <a:endParaRPr lang="en-US" sz="1700" dirty="0"/>
          </a:p>
        </p:txBody>
      </p:sp>
      <p:sp>
        <p:nvSpPr>
          <p:cNvPr id="8" name="Text 6"/>
          <p:cNvSpPr/>
          <p:nvPr/>
        </p:nvSpPr>
        <p:spPr>
          <a:xfrm>
            <a:off x="6291072" y="1719072"/>
            <a:ext cx="4608576" cy="1325880"/>
          </a:xfrm>
          <a:prstGeom prst="rect">
            <a:avLst/>
          </a:prstGeom>
          <a:noFill/>
          <a:ln/>
        </p:spPr>
        <p:txBody>
          <a:bodyPr wrap="square" lIns="381" tIns="381" rIns="381" bIns="381" rtlCol="0" anchor="t"/>
          <a:lstStyle/>
          <a:p>
            <a:pPr indent="0" marL="0">
              <a:buNone/>
            </a:pPr>
            <a:r>
              <a:rPr lang="en-US" sz="1400" dirty="0">
                <a:solidFill>
                  <a:srgbClr val="222222"/>
                </a:solidFill>
              </a:rPr>
              <a:t>Common tables include events, incidents, actions, and site scores. The first few rows are often seeded sample data, while later records come from POST API submissions.</a:t>
            </a:r>
            <a:endParaRPr lang="en-US" sz="1400" dirty="0"/>
          </a:p>
        </p:txBody>
      </p:sp>
      <p:sp>
        <p:nvSpPr>
          <p:cNvPr id="9" name="Text 7"/>
          <p:cNvSpPr/>
          <p:nvPr/>
        </p:nvSpPr>
        <p:spPr>
          <a:xfrm>
            <a:off x="914400" y="3611880"/>
            <a:ext cx="3200400" cy="274320"/>
          </a:xfrm>
          <a:prstGeom prst="rect">
            <a:avLst/>
          </a:prstGeom>
          <a:noFill/>
          <a:ln/>
        </p:spPr>
        <p:txBody>
          <a:bodyPr wrap="square" rtlCol="0" anchor="ctr"/>
          <a:lstStyle/>
          <a:p>
            <a:pPr indent="0" marL="0">
              <a:buNone/>
            </a:pPr>
            <a:r>
              <a:rPr lang="en-US" sz="2000" b="1" dirty="0">
                <a:solidFill>
                  <a:srgbClr val="111111"/>
                </a:solidFill>
              </a:rPr>
              <a:t>Common code locations</a:t>
            </a:r>
            <a:endParaRPr lang="en-US" sz="2000" dirty="0"/>
          </a:p>
        </p:txBody>
      </p:sp>
      <p:sp>
        <p:nvSpPr>
          <p:cNvPr id="10" name="Text 8"/>
          <p:cNvSpPr/>
          <p:nvPr/>
        </p:nvSpPr>
        <p:spPr>
          <a:xfrm>
            <a:off x="914400" y="3977640"/>
            <a:ext cx="5486400" cy="1828800"/>
          </a:xfrm>
          <a:prstGeom prst="rect">
            <a:avLst/>
          </a:prstGeom>
          <a:noFill/>
          <a:ln/>
        </p:spPr>
        <p:txBody>
          <a:bodyPr wrap="square" lIns="635" tIns="635" rIns="635" bIns="635" rtlCol="0" anchor="t"/>
          <a:lstStyle/>
          <a:p>
            <a:pPr marL="182880" indent="-182880">
              <a:buSzPct val="100000"/>
              <a:buChar char="•"/>
            </a:pPr>
            <a:r>
              <a:rPr lang="en-US" sz="1800" dirty="0">
                <a:solidFill>
                  <a:srgbClr val="111111"/>
                </a:solidFill>
              </a:rPr>
              <a:t>db/session.py for engine, SessionLocal, and get_db()</a:t>
            </a:r>
            <a:endParaRPr lang="en-US" sz="1800" dirty="0"/>
          </a:p>
          <a:p>
            <a:pPr marL="182880" indent="-182880">
              <a:buSzPct val="100000"/>
              <a:buChar char="•"/>
            </a:pPr>
            <a:r>
              <a:rPr lang="en-US" sz="1800" dirty="0">
                <a:solidFill>
                  <a:srgbClr val="111111"/>
                </a:solidFill>
              </a:rPr>
              <a:t>models/event.py and models/incident.py for table definitions</a:t>
            </a:r>
            <a:endParaRPr lang="en-US" sz="1800" dirty="0"/>
          </a:p>
          <a:p>
            <a:pPr marL="182880" indent="-182880">
              <a:buSzPct val="100000"/>
              <a:buChar char="•"/>
            </a:pPr>
            <a:r>
              <a:rPr lang="en-US" sz="1800" dirty="0">
                <a:solidFill>
                  <a:srgbClr val="111111"/>
                </a:solidFill>
              </a:rPr>
              <a:t>services/ingestion_service.py for insert logic</a:t>
            </a:r>
            <a:endParaRPr lang="en-US" sz="1800" dirty="0"/>
          </a:p>
          <a:p>
            <a:pPr marL="182880" indent="-182880">
              <a:buSzPct val="100000"/>
              <a:buChar char="•"/>
            </a:pPr>
            <a:r>
              <a:rPr lang="en-US" sz="1800" dirty="0">
                <a:solidFill>
                  <a:srgbClr val="111111"/>
                </a:solidFill>
              </a:rPr>
              <a:t>api/routes for GET and POST operations</a:t>
            </a:r>
            <a:endParaRPr lang="en-US" sz="1800" dirty="0"/>
          </a:p>
        </p:txBody>
      </p:sp>
      <p:sp>
        <p:nvSpPr>
          <p:cNvPr id="11" name="Shape 9"/>
          <p:cNvSpPr/>
          <p:nvPr/>
        </p:nvSpPr>
        <p:spPr>
          <a:xfrm>
            <a:off x="6400800" y="3794760"/>
            <a:ext cx="4572000" cy="1783080"/>
          </a:xfrm>
          <a:prstGeom prst="rect">
            <a:avLst/>
          </a:prstGeom>
          <a:solidFill>
            <a:srgbClr val="F7F7F7"/>
          </a:solidFill>
          <a:ln w="12700">
            <a:solidFill>
              <a:srgbClr val="A8A8A8"/>
            </a:solidFill>
            <a:prstDash val="solid"/>
          </a:ln>
        </p:spPr>
      </p:sp>
      <p:sp>
        <p:nvSpPr>
          <p:cNvPr id="12" name="Text 10"/>
          <p:cNvSpPr/>
          <p:nvPr/>
        </p:nvSpPr>
        <p:spPr>
          <a:xfrm>
            <a:off x="6565392" y="3904488"/>
            <a:ext cx="4242816" cy="219456"/>
          </a:xfrm>
          <a:prstGeom prst="rect">
            <a:avLst/>
          </a:prstGeom>
          <a:noFill/>
          <a:ln/>
        </p:spPr>
        <p:txBody>
          <a:bodyPr wrap="square" rtlCol="0" anchor="ctr"/>
          <a:lstStyle/>
          <a:p>
            <a:pPr indent="0" marL="0">
              <a:buNone/>
            </a:pPr>
            <a:r>
              <a:rPr lang="en-US" sz="1700" b="1" dirty="0">
                <a:solidFill>
                  <a:srgbClr val="111111"/>
                </a:solidFill>
              </a:rPr>
              <a:t>How to Inspect Data</a:t>
            </a:r>
            <a:endParaRPr lang="en-US" sz="1700" dirty="0"/>
          </a:p>
        </p:txBody>
      </p:sp>
      <p:sp>
        <p:nvSpPr>
          <p:cNvPr id="13" name="Text 11"/>
          <p:cNvSpPr/>
          <p:nvPr/>
        </p:nvSpPr>
        <p:spPr>
          <a:xfrm>
            <a:off x="6565392" y="4187952"/>
            <a:ext cx="4242816" cy="1280160"/>
          </a:xfrm>
          <a:prstGeom prst="rect">
            <a:avLst/>
          </a:prstGeom>
          <a:noFill/>
          <a:ln/>
        </p:spPr>
        <p:txBody>
          <a:bodyPr wrap="square" lIns="381" tIns="381" rIns="381" bIns="381" rtlCol="0" anchor="t"/>
          <a:lstStyle/>
          <a:p>
            <a:pPr indent="0" marL="0">
              <a:buNone/>
            </a:pPr>
            <a:r>
              <a:rPr lang="en-US" sz="1400" dirty="0">
                <a:solidFill>
                  <a:srgbClr val="222222"/>
                </a:solidFill>
              </a:rPr>
              <a:t>The database can be viewed with DB Browser for SQLite, the sqlite3 command line, or a simple Python script that runs SELECT queries on the local database file.</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API Layer and Message Handling</a:t>
            </a:r>
            <a:endParaRPr lang="en-US" sz="2600" dirty="0"/>
          </a:p>
        </p:txBody>
      </p:sp>
      <p:sp>
        <p:nvSpPr>
          <p:cNvPr id="3" name="Shape 1"/>
          <p:cNvSpPr/>
          <p:nvPr/>
        </p:nvSpPr>
        <p:spPr>
          <a:xfrm>
            <a:off x="868680" y="1325880"/>
            <a:ext cx="5120640" cy="1737360"/>
          </a:xfrm>
          <a:prstGeom prst="rect">
            <a:avLst/>
          </a:prstGeom>
          <a:solidFill>
            <a:srgbClr val="F7F7F7"/>
          </a:solidFill>
          <a:ln w="12700">
            <a:solidFill>
              <a:srgbClr val="A8A8A8"/>
            </a:solidFill>
            <a:prstDash val="solid"/>
          </a:ln>
        </p:spPr>
      </p:sp>
      <p:sp>
        <p:nvSpPr>
          <p:cNvPr id="4" name="Text 2"/>
          <p:cNvSpPr/>
          <p:nvPr/>
        </p:nvSpPr>
        <p:spPr>
          <a:xfrm>
            <a:off x="1033272" y="1435608"/>
            <a:ext cx="4791456" cy="219456"/>
          </a:xfrm>
          <a:prstGeom prst="rect">
            <a:avLst/>
          </a:prstGeom>
          <a:noFill/>
          <a:ln/>
        </p:spPr>
        <p:txBody>
          <a:bodyPr wrap="square" rtlCol="0" anchor="ctr"/>
          <a:lstStyle/>
          <a:p>
            <a:pPr indent="0" marL="0">
              <a:buNone/>
            </a:pPr>
            <a:r>
              <a:rPr lang="en-US" sz="1700" b="1" dirty="0">
                <a:solidFill>
                  <a:srgbClr val="111111"/>
                </a:solidFill>
              </a:rPr>
              <a:t>POST APIs</a:t>
            </a:r>
            <a:endParaRPr lang="en-US" sz="1700" dirty="0"/>
          </a:p>
        </p:txBody>
      </p:sp>
      <p:sp>
        <p:nvSpPr>
          <p:cNvPr id="5" name="Text 3"/>
          <p:cNvSpPr/>
          <p:nvPr/>
        </p:nvSpPr>
        <p:spPr>
          <a:xfrm>
            <a:off x="1033272" y="1719072"/>
            <a:ext cx="4791456" cy="1234440"/>
          </a:xfrm>
          <a:prstGeom prst="rect">
            <a:avLst/>
          </a:prstGeom>
          <a:noFill/>
          <a:ln/>
        </p:spPr>
        <p:txBody>
          <a:bodyPr wrap="square" lIns="381" tIns="381" rIns="381" bIns="381" rtlCol="0" anchor="t"/>
          <a:lstStyle/>
          <a:p>
            <a:pPr indent="0" marL="0">
              <a:buNone/>
            </a:pPr>
            <a:r>
              <a:rPr lang="en-US" sz="1400" dirty="0">
                <a:solidFill>
                  <a:srgbClr val="222222"/>
                </a:solidFill>
              </a:rPr>
              <a:t>The system receives operational messages through endpoints such as POST /events or POST /ingest. These messages are validated, stored, and used to trigger incident and action logic.</a:t>
            </a:r>
            <a:endParaRPr lang="en-US" sz="1400" dirty="0"/>
          </a:p>
        </p:txBody>
      </p:sp>
      <p:sp>
        <p:nvSpPr>
          <p:cNvPr id="6" name="Shape 4"/>
          <p:cNvSpPr/>
          <p:nvPr/>
        </p:nvSpPr>
        <p:spPr>
          <a:xfrm>
            <a:off x="6172200" y="1325880"/>
            <a:ext cx="4892040" cy="1737360"/>
          </a:xfrm>
          <a:prstGeom prst="rect">
            <a:avLst/>
          </a:prstGeom>
          <a:solidFill>
            <a:srgbClr val="F7F7F7"/>
          </a:solidFill>
          <a:ln w="12700">
            <a:solidFill>
              <a:srgbClr val="A8A8A8"/>
            </a:solidFill>
            <a:prstDash val="solid"/>
          </a:ln>
        </p:spPr>
      </p:sp>
      <p:sp>
        <p:nvSpPr>
          <p:cNvPr id="7" name="Text 5"/>
          <p:cNvSpPr/>
          <p:nvPr/>
        </p:nvSpPr>
        <p:spPr>
          <a:xfrm>
            <a:off x="6336792" y="1435608"/>
            <a:ext cx="4562856" cy="219456"/>
          </a:xfrm>
          <a:prstGeom prst="rect">
            <a:avLst/>
          </a:prstGeom>
          <a:noFill/>
          <a:ln/>
        </p:spPr>
        <p:txBody>
          <a:bodyPr wrap="square" rtlCol="0" anchor="ctr"/>
          <a:lstStyle/>
          <a:p>
            <a:pPr indent="0" marL="0">
              <a:buNone/>
            </a:pPr>
            <a:r>
              <a:rPr lang="en-US" sz="1700" b="1" dirty="0">
                <a:solidFill>
                  <a:srgbClr val="111111"/>
                </a:solidFill>
              </a:rPr>
              <a:t>GET APIs</a:t>
            </a:r>
            <a:endParaRPr lang="en-US" sz="1700" dirty="0"/>
          </a:p>
        </p:txBody>
      </p:sp>
      <p:sp>
        <p:nvSpPr>
          <p:cNvPr id="8" name="Text 6"/>
          <p:cNvSpPr/>
          <p:nvPr/>
        </p:nvSpPr>
        <p:spPr>
          <a:xfrm>
            <a:off x="6336792" y="1719072"/>
            <a:ext cx="4562856" cy="1234440"/>
          </a:xfrm>
          <a:prstGeom prst="rect">
            <a:avLst/>
          </a:prstGeom>
          <a:noFill/>
          <a:ln/>
        </p:spPr>
        <p:txBody>
          <a:bodyPr wrap="square" lIns="381" tIns="381" rIns="381" bIns="381" rtlCol="0" anchor="t"/>
          <a:lstStyle/>
          <a:p>
            <a:pPr indent="0" marL="0">
              <a:buNone/>
            </a:pPr>
            <a:r>
              <a:rPr lang="en-US" sz="1400" dirty="0">
                <a:solidFill>
                  <a:srgbClr val="222222"/>
                </a:solidFill>
              </a:rPr>
              <a:t>Operator facing endpoints can return active incidents, ranked actions, and shift summaries. These endpoints convert internal processing into readable results for people.</a:t>
            </a:r>
            <a:endParaRPr lang="en-US" sz="1400" dirty="0"/>
          </a:p>
        </p:txBody>
      </p:sp>
      <p:sp>
        <p:nvSpPr>
          <p:cNvPr id="9" name="Text 7"/>
          <p:cNvSpPr/>
          <p:nvPr/>
        </p:nvSpPr>
        <p:spPr>
          <a:xfrm>
            <a:off x="914400" y="3611880"/>
            <a:ext cx="9966960" cy="1554480"/>
          </a:xfrm>
          <a:prstGeom prst="rect">
            <a:avLst/>
          </a:prstGeom>
          <a:noFill/>
          <a:ln/>
        </p:spPr>
        <p:txBody>
          <a:bodyPr wrap="square" lIns="635" tIns="635" rIns="635" bIns="635" rtlCol="0" anchor="t"/>
          <a:lstStyle/>
          <a:p>
            <a:pPr marL="193040" indent="-193040">
              <a:buSzPct val="100000"/>
              <a:buChar char="•"/>
            </a:pPr>
            <a:r>
              <a:rPr lang="en-US" sz="1900" dirty="0">
                <a:solidFill>
                  <a:srgbClr val="111111"/>
                </a:solidFill>
              </a:rPr>
              <a:t>The submit message is the starting signal for the whole workflow</a:t>
            </a:r>
            <a:endParaRPr lang="en-US" sz="1900" dirty="0"/>
          </a:p>
          <a:p>
            <a:pPr marL="193040" indent="-193040">
              <a:buSzPct val="100000"/>
              <a:buChar char="•"/>
            </a:pPr>
            <a:r>
              <a:rPr lang="en-US" sz="1900" dirty="0">
                <a:solidFill>
                  <a:srgbClr val="111111"/>
                </a:solidFill>
              </a:rPr>
              <a:t>It provides topic, payload, site, device, and time context</a:t>
            </a:r>
            <a:endParaRPr lang="en-US" sz="1900" dirty="0"/>
          </a:p>
          <a:p>
            <a:pPr marL="193040" indent="-193040">
              <a:buSzPct val="100000"/>
              <a:buChar char="•"/>
            </a:pPr>
            <a:r>
              <a:rPr lang="en-US" sz="1900" dirty="0">
                <a:solidFill>
                  <a:srgbClr val="111111"/>
                </a:solidFill>
              </a:rPr>
              <a:t>It helps with detection, retrieval, prioritization, and final output</a:t>
            </a:r>
            <a:endParaRPr lang="en-US" sz="1900" dirty="0"/>
          </a:p>
          <a:p>
            <a:pPr marL="193040" indent="-193040">
              <a:buSzPct val="100000"/>
              <a:buChar char="•"/>
            </a:pPr>
            <a:r>
              <a:rPr lang="en-US" sz="1900" dirty="0">
                <a:solidFill>
                  <a:srgbClr val="111111"/>
                </a:solidFill>
              </a:rPr>
              <a:t>If no explicit limit is coded, the system can publish all active incidents</a:t>
            </a:r>
            <a:endParaRPr lang="en-US" sz="1900" dirty="0"/>
          </a:p>
        </p:txBody>
      </p:sp>
      <p:sp>
        <p:nvSpPr>
          <p:cNvPr id="10" name="Shape 8"/>
          <p:cNvSpPr/>
          <p:nvPr/>
        </p:nvSpPr>
        <p:spPr>
          <a:xfrm>
            <a:off x="914400" y="5394960"/>
            <a:ext cx="10149840" cy="502920"/>
          </a:xfrm>
          <a:prstGeom prst="rect">
            <a:avLst/>
          </a:prstGeom>
          <a:solidFill>
            <a:srgbClr val="F7F7F7"/>
          </a:solidFill>
          <a:ln w="12700">
            <a:solidFill>
              <a:srgbClr val="A8A8A8"/>
            </a:solidFill>
            <a:prstDash val="solid"/>
          </a:ln>
        </p:spPr>
      </p:sp>
      <p:sp>
        <p:nvSpPr>
          <p:cNvPr id="11" name="Text 9"/>
          <p:cNvSpPr/>
          <p:nvPr/>
        </p:nvSpPr>
        <p:spPr>
          <a:xfrm>
            <a:off x="1078992" y="5504688"/>
            <a:ext cx="9820656" cy="219456"/>
          </a:xfrm>
          <a:prstGeom prst="rect">
            <a:avLst/>
          </a:prstGeom>
          <a:noFill/>
          <a:ln/>
        </p:spPr>
        <p:txBody>
          <a:bodyPr wrap="square" rtlCol="0" anchor="ctr"/>
          <a:lstStyle/>
          <a:p>
            <a:pPr indent="0" marL="0">
              <a:buNone/>
            </a:pPr>
            <a:r>
              <a:rPr lang="en-US" sz="1700" b="1" dirty="0">
                <a:solidFill>
                  <a:srgbClr val="111111"/>
                </a:solidFill>
              </a:rPr>
              <a:t>Practical Note</a:t>
            </a:r>
            <a:endParaRPr lang="en-US" sz="1700" dirty="0"/>
          </a:p>
        </p:txBody>
      </p:sp>
      <p:sp>
        <p:nvSpPr>
          <p:cNvPr id="12" name="Text 10"/>
          <p:cNvSpPr/>
          <p:nvPr/>
        </p:nvSpPr>
        <p:spPr>
          <a:xfrm>
            <a:off x="1078992" y="5788152"/>
            <a:ext cx="9820656" cy="0"/>
          </a:xfrm>
          <a:prstGeom prst="rect">
            <a:avLst/>
          </a:prstGeom>
          <a:noFill/>
          <a:ln/>
        </p:spPr>
        <p:txBody>
          <a:bodyPr wrap="square" lIns="381" tIns="381" rIns="381" bIns="381" rtlCol="0" anchor="t"/>
          <a:lstStyle/>
          <a:p>
            <a:pPr indent="0" marL="0">
              <a:buNone/>
            </a:pPr>
            <a:r>
              <a:rPr lang="en-US" sz="1400" dirty="0">
                <a:solidFill>
                  <a:srgbClr val="222222"/>
                </a:solidFill>
              </a:rPr>
              <a:t>A visual dashboard may still show only the top incidents even when the backend stores more records.</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Runbooks and Text Files</a:t>
            </a:r>
            <a:endParaRPr lang="en-US" sz="2600" dirty="0"/>
          </a:p>
        </p:txBody>
      </p:sp>
      <p:sp>
        <p:nvSpPr>
          <p:cNvPr id="3" name="Shape 1"/>
          <p:cNvSpPr/>
          <p:nvPr/>
        </p:nvSpPr>
        <p:spPr>
          <a:xfrm>
            <a:off x="868680" y="1325880"/>
            <a:ext cx="5120640" cy="1828800"/>
          </a:xfrm>
          <a:prstGeom prst="rect">
            <a:avLst/>
          </a:prstGeom>
          <a:solidFill>
            <a:srgbClr val="F7F7F7"/>
          </a:solidFill>
          <a:ln w="12700">
            <a:solidFill>
              <a:srgbClr val="A8A8A8"/>
            </a:solidFill>
            <a:prstDash val="solid"/>
          </a:ln>
        </p:spPr>
      </p:sp>
      <p:sp>
        <p:nvSpPr>
          <p:cNvPr id="4" name="Text 2"/>
          <p:cNvSpPr/>
          <p:nvPr/>
        </p:nvSpPr>
        <p:spPr>
          <a:xfrm>
            <a:off x="1033272" y="1435608"/>
            <a:ext cx="4791456" cy="219456"/>
          </a:xfrm>
          <a:prstGeom prst="rect">
            <a:avLst/>
          </a:prstGeom>
          <a:noFill/>
          <a:ln/>
        </p:spPr>
        <p:txBody>
          <a:bodyPr wrap="square" rtlCol="0" anchor="ctr"/>
          <a:lstStyle/>
          <a:p>
            <a:pPr indent="0" marL="0">
              <a:buNone/>
            </a:pPr>
            <a:r>
              <a:rPr lang="en-US" sz="1700" b="1" dirty="0">
                <a:solidFill>
                  <a:srgbClr val="111111"/>
                </a:solidFill>
              </a:rPr>
              <a:t>What They Are</a:t>
            </a:r>
            <a:endParaRPr lang="en-US" sz="1700" dirty="0"/>
          </a:p>
        </p:txBody>
      </p:sp>
      <p:sp>
        <p:nvSpPr>
          <p:cNvPr id="5" name="Text 3"/>
          <p:cNvSpPr/>
          <p:nvPr/>
        </p:nvSpPr>
        <p:spPr>
          <a:xfrm>
            <a:off x="1033272" y="1719072"/>
            <a:ext cx="4791456" cy="1325880"/>
          </a:xfrm>
          <a:prstGeom prst="rect">
            <a:avLst/>
          </a:prstGeom>
          <a:noFill/>
          <a:ln/>
        </p:spPr>
        <p:txBody>
          <a:bodyPr wrap="square" lIns="381" tIns="381" rIns="381" bIns="381" rtlCol="0" anchor="t"/>
          <a:lstStyle/>
          <a:p>
            <a:pPr indent="0" marL="0">
              <a:buNone/>
            </a:pPr>
            <a:r>
              <a:rPr lang="en-US" sz="1400" dirty="0">
                <a:solidFill>
                  <a:srgbClr val="222222"/>
                </a:solidFill>
              </a:rPr>
              <a:t>Runbooks are operational guidance documents. Text files can contain troubleshooting steps, escalation rules, safety notes, and policy guidance for known scenarios.</a:t>
            </a:r>
            <a:endParaRPr lang="en-US" sz="1400" dirty="0"/>
          </a:p>
        </p:txBody>
      </p:sp>
      <p:sp>
        <p:nvSpPr>
          <p:cNvPr id="6" name="Shape 4"/>
          <p:cNvSpPr/>
          <p:nvPr/>
        </p:nvSpPr>
        <p:spPr>
          <a:xfrm>
            <a:off x="6172200" y="1325880"/>
            <a:ext cx="4892040" cy="1828800"/>
          </a:xfrm>
          <a:prstGeom prst="rect">
            <a:avLst/>
          </a:prstGeom>
          <a:solidFill>
            <a:srgbClr val="F7F7F7"/>
          </a:solidFill>
          <a:ln w="12700">
            <a:solidFill>
              <a:srgbClr val="A8A8A8"/>
            </a:solidFill>
            <a:prstDash val="solid"/>
          </a:ln>
        </p:spPr>
      </p:sp>
      <p:sp>
        <p:nvSpPr>
          <p:cNvPr id="7" name="Text 5"/>
          <p:cNvSpPr/>
          <p:nvPr/>
        </p:nvSpPr>
        <p:spPr>
          <a:xfrm>
            <a:off x="6336792" y="1435608"/>
            <a:ext cx="4562856" cy="219456"/>
          </a:xfrm>
          <a:prstGeom prst="rect">
            <a:avLst/>
          </a:prstGeom>
          <a:noFill/>
          <a:ln/>
        </p:spPr>
        <p:txBody>
          <a:bodyPr wrap="square" rtlCol="0" anchor="ctr"/>
          <a:lstStyle/>
          <a:p>
            <a:pPr indent="0" marL="0">
              <a:buNone/>
            </a:pPr>
            <a:r>
              <a:rPr lang="en-US" sz="1700" b="1" dirty="0">
                <a:solidFill>
                  <a:srgbClr val="111111"/>
                </a:solidFill>
              </a:rPr>
              <a:t>Why They Matter</a:t>
            </a:r>
            <a:endParaRPr lang="en-US" sz="1700" dirty="0"/>
          </a:p>
        </p:txBody>
      </p:sp>
      <p:sp>
        <p:nvSpPr>
          <p:cNvPr id="8" name="Text 6"/>
          <p:cNvSpPr/>
          <p:nvPr/>
        </p:nvSpPr>
        <p:spPr>
          <a:xfrm>
            <a:off x="6336792" y="1719072"/>
            <a:ext cx="4562856" cy="1325880"/>
          </a:xfrm>
          <a:prstGeom prst="rect">
            <a:avLst/>
          </a:prstGeom>
          <a:noFill/>
          <a:ln/>
        </p:spPr>
        <p:txBody>
          <a:bodyPr wrap="square" lIns="381" tIns="381" rIns="381" bIns="381" rtlCol="0" anchor="t"/>
          <a:lstStyle/>
          <a:p>
            <a:pPr indent="0" marL="0">
              <a:buNone/>
            </a:pPr>
            <a:r>
              <a:rPr lang="en-US" sz="1400" dirty="0">
                <a:solidFill>
                  <a:srgbClr val="222222"/>
                </a:solidFill>
              </a:rPr>
              <a:t>They make the assistant useful in a real environment. Instead of guessing, the system can anchor its recommendations to documented procedures that teams already trust.</a:t>
            </a:r>
            <a:endParaRPr lang="en-US" sz="1400" dirty="0"/>
          </a:p>
        </p:txBody>
      </p:sp>
      <p:sp>
        <p:nvSpPr>
          <p:cNvPr id="9" name="Text 7"/>
          <p:cNvSpPr/>
          <p:nvPr/>
        </p:nvSpPr>
        <p:spPr>
          <a:xfrm>
            <a:off x="914400" y="3794760"/>
            <a:ext cx="4663440" cy="1645920"/>
          </a:xfrm>
          <a:prstGeom prst="rect">
            <a:avLst/>
          </a:prstGeom>
          <a:noFill/>
          <a:ln/>
        </p:spPr>
        <p:txBody>
          <a:bodyPr wrap="square" lIns="635" tIns="635" rIns="635" bIns="635" rtlCol="0" anchor="t"/>
          <a:lstStyle/>
          <a:p>
            <a:pPr marL="193040" indent="-193040">
              <a:buSzPct val="100000"/>
              <a:buChar char="•"/>
            </a:pPr>
            <a:r>
              <a:rPr lang="en-US" sz="1900" dirty="0">
                <a:solidFill>
                  <a:srgbClr val="111111"/>
                </a:solidFill>
              </a:rPr>
              <a:t>Failed login response procedures</a:t>
            </a:r>
            <a:endParaRPr lang="en-US" sz="1900" dirty="0"/>
          </a:p>
          <a:p>
            <a:pPr marL="193040" indent="-193040">
              <a:buSzPct val="100000"/>
              <a:buChar char="•"/>
            </a:pPr>
            <a:r>
              <a:rPr lang="en-US" sz="1900" dirty="0">
                <a:solidFill>
                  <a:srgbClr val="111111"/>
                </a:solidFill>
              </a:rPr>
              <a:t>Device disconnect troubleshooting steps</a:t>
            </a:r>
            <a:endParaRPr lang="en-US" sz="1900" dirty="0"/>
          </a:p>
          <a:p>
            <a:pPr marL="193040" indent="-193040">
              <a:buSzPct val="100000"/>
              <a:buChar char="•"/>
            </a:pPr>
            <a:r>
              <a:rPr lang="en-US" sz="1900" dirty="0">
                <a:solidFill>
                  <a:srgbClr val="111111"/>
                </a:solidFill>
              </a:rPr>
              <a:t>Configuration change review policies</a:t>
            </a:r>
            <a:endParaRPr lang="en-US" sz="1900" dirty="0"/>
          </a:p>
          <a:p>
            <a:pPr marL="193040" indent="-193040">
              <a:buSzPct val="100000"/>
              <a:buChar char="•"/>
            </a:pPr>
            <a:r>
              <a:rPr lang="en-US" sz="1900" dirty="0">
                <a:solidFill>
                  <a:srgbClr val="111111"/>
                </a:solidFill>
              </a:rPr>
              <a:t>Escalation and communication guidance</a:t>
            </a:r>
            <a:endParaRPr lang="en-US" sz="1900" dirty="0"/>
          </a:p>
        </p:txBody>
      </p:sp>
      <p:sp>
        <p:nvSpPr>
          <p:cNvPr id="10" name="Shape 8"/>
          <p:cNvSpPr/>
          <p:nvPr/>
        </p:nvSpPr>
        <p:spPr>
          <a:xfrm>
            <a:off x="5943600" y="3657600"/>
            <a:ext cx="5120640" cy="1783080"/>
          </a:xfrm>
          <a:prstGeom prst="rect">
            <a:avLst/>
          </a:prstGeom>
          <a:solidFill>
            <a:srgbClr val="F7F7F7"/>
          </a:solidFill>
          <a:ln w="12700">
            <a:solidFill>
              <a:srgbClr val="A8A8A8"/>
            </a:solidFill>
            <a:prstDash val="solid"/>
          </a:ln>
        </p:spPr>
      </p:sp>
      <p:sp>
        <p:nvSpPr>
          <p:cNvPr id="11" name="Text 9"/>
          <p:cNvSpPr/>
          <p:nvPr/>
        </p:nvSpPr>
        <p:spPr>
          <a:xfrm>
            <a:off x="6108192" y="3767328"/>
            <a:ext cx="4791456" cy="219456"/>
          </a:xfrm>
          <a:prstGeom prst="rect">
            <a:avLst/>
          </a:prstGeom>
          <a:noFill/>
          <a:ln/>
        </p:spPr>
        <p:txBody>
          <a:bodyPr wrap="square" rtlCol="0" anchor="ctr"/>
          <a:lstStyle/>
          <a:p>
            <a:pPr indent="0" marL="0">
              <a:buNone/>
            </a:pPr>
            <a:r>
              <a:rPr lang="en-US" sz="1700" b="1" dirty="0">
                <a:solidFill>
                  <a:srgbClr val="111111"/>
                </a:solidFill>
              </a:rPr>
              <a:t>Storage Pattern</a:t>
            </a:r>
            <a:endParaRPr lang="en-US" sz="1700" dirty="0"/>
          </a:p>
        </p:txBody>
      </p:sp>
      <p:sp>
        <p:nvSpPr>
          <p:cNvPr id="12" name="Text 10"/>
          <p:cNvSpPr/>
          <p:nvPr/>
        </p:nvSpPr>
        <p:spPr>
          <a:xfrm>
            <a:off x="6108192" y="4050792"/>
            <a:ext cx="4791456" cy="1280160"/>
          </a:xfrm>
          <a:prstGeom prst="rect">
            <a:avLst/>
          </a:prstGeom>
          <a:noFill/>
          <a:ln/>
        </p:spPr>
        <p:txBody>
          <a:bodyPr wrap="square" lIns="381" tIns="381" rIns="381" bIns="381" rtlCol="0" anchor="t"/>
          <a:lstStyle/>
          <a:p>
            <a:pPr indent="0" marL="0">
              <a:buNone/>
            </a:pPr>
            <a:r>
              <a:rPr lang="en-US" sz="1400" dirty="0">
                <a:solidFill>
                  <a:srgbClr val="222222"/>
                </a:solidFill>
              </a:rPr>
              <a:t>These files are commonly stored in a local knowledge_base folder and loaded by a retrieval service when the system needs incident specific guidance.</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How RAG Is Used in the Framework</a:t>
            </a:r>
            <a:endParaRPr lang="en-US" sz="2600" dirty="0"/>
          </a:p>
        </p:txBody>
      </p:sp>
      <p:sp>
        <p:nvSpPr>
          <p:cNvPr id="3" name="Shape 1"/>
          <p:cNvSpPr/>
          <p:nvPr/>
        </p:nvSpPr>
        <p:spPr>
          <a:xfrm>
            <a:off x="868680" y="1554480"/>
            <a:ext cx="2423160" cy="2286000"/>
          </a:xfrm>
          <a:prstGeom prst="rect">
            <a:avLst/>
          </a:prstGeom>
          <a:solidFill>
            <a:srgbClr val="F7F7F7"/>
          </a:solidFill>
          <a:ln w="12700">
            <a:solidFill>
              <a:srgbClr val="A8A8A8"/>
            </a:solidFill>
            <a:prstDash val="solid"/>
          </a:ln>
        </p:spPr>
      </p:sp>
      <p:sp>
        <p:nvSpPr>
          <p:cNvPr id="4" name="Text 2"/>
          <p:cNvSpPr/>
          <p:nvPr/>
        </p:nvSpPr>
        <p:spPr>
          <a:xfrm>
            <a:off x="1033272" y="1664208"/>
            <a:ext cx="2093976" cy="219456"/>
          </a:xfrm>
          <a:prstGeom prst="rect">
            <a:avLst/>
          </a:prstGeom>
          <a:noFill/>
          <a:ln/>
        </p:spPr>
        <p:txBody>
          <a:bodyPr wrap="square" rtlCol="0" anchor="ctr"/>
          <a:lstStyle/>
          <a:p>
            <a:pPr indent="0" marL="0">
              <a:buNone/>
            </a:pPr>
            <a:r>
              <a:rPr lang="en-US" sz="1700" b="1" dirty="0">
                <a:solidFill>
                  <a:srgbClr val="111111"/>
                </a:solidFill>
              </a:rPr>
              <a:t>Trigger</a:t>
            </a:r>
            <a:endParaRPr lang="en-US" sz="1700" dirty="0"/>
          </a:p>
        </p:txBody>
      </p:sp>
      <p:sp>
        <p:nvSpPr>
          <p:cNvPr id="5" name="Text 3"/>
          <p:cNvSpPr/>
          <p:nvPr/>
        </p:nvSpPr>
        <p:spPr>
          <a:xfrm>
            <a:off x="1033272" y="1947672"/>
            <a:ext cx="2093976" cy="1783080"/>
          </a:xfrm>
          <a:prstGeom prst="rect">
            <a:avLst/>
          </a:prstGeom>
          <a:noFill/>
          <a:ln/>
        </p:spPr>
        <p:txBody>
          <a:bodyPr wrap="square" lIns="381" tIns="381" rIns="381" bIns="381" rtlCol="0" anchor="t"/>
          <a:lstStyle/>
          <a:p>
            <a:pPr indent="0" marL="0">
              <a:buNone/>
            </a:pPr>
            <a:r>
              <a:rPr lang="en-US" sz="1400" dirty="0">
                <a:solidFill>
                  <a:srgbClr val="222222"/>
                </a:solidFill>
              </a:rPr>
              <a:t>An incoming event or incident creates a search need.</a:t>
            </a:r>
            <a:endParaRPr lang="en-US" sz="1400" dirty="0"/>
          </a:p>
        </p:txBody>
      </p:sp>
      <p:sp>
        <p:nvSpPr>
          <p:cNvPr id="6" name="Shape 4"/>
          <p:cNvSpPr/>
          <p:nvPr/>
        </p:nvSpPr>
        <p:spPr>
          <a:xfrm>
            <a:off x="3611880" y="1554480"/>
            <a:ext cx="2423160" cy="2286000"/>
          </a:xfrm>
          <a:prstGeom prst="rect">
            <a:avLst/>
          </a:prstGeom>
          <a:solidFill>
            <a:srgbClr val="F7F7F7"/>
          </a:solidFill>
          <a:ln w="12700">
            <a:solidFill>
              <a:srgbClr val="A8A8A8"/>
            </a:solidFill>
            <a:prstDash val="solid"/>
          </a:ln>
        </p:spPr>
      </p:sp>
      <p:sp>
        <p:nvSpPr>
          <p:cNvPr id="7" name="Text 5"/>
          <p:cNvSpPr/>
          <p:nvPr/>
        </p:nvSpPr>
        <p:spPr>
          <a:xfrm>
            <a:off x="3776472" y="1664208"/>
            <a:ext cx="2093976" cy="219456"/>
          </a:xfrm>
          <a:prstGeom prst="rect">
            <a:avLst/>
          </a:prstGeom>
          <a:noFill/>
          <a:ln/>
        </p:spPr>
        <p:txBody>
          <a:bodyPr wrap="square" rtlCol="0" anchor="ctr"/>
          <a:lstStyle/>
          <a:p>
            <a:pPr indent="0" marL="0">
              <a:buNone/>
            </a:pPr>
            <a:r>
              <a:rPr lang="en-US" sz="1700" b="1" dirty="0">
                <a:solidFill>
                  <a:srgbClr val="111111"/>
                </a:solidFill>
              </a:rPr>
              <a:t>Query Build</a:t>
            </a:r>
            <a:endParaRPr lang="en-US" sz="1700" dirty="0"/>
          </a:p>
        </p:txBody>
      </p:sp>
      <p:sp>
        <p:nvSpPr>
          <p:cNvPr id="8" name="Text 6"/>
          <p:cNvSpPr/>
          <p:nvPr/>
        </p:nvSpPr>
        <p:spPr>
          <a:xfrm>
            <a:off x="3776472" y="1947672"/>
            <a:ext cx="2093976" cy="1783080"/>
          </a:xfrm>
          <a:prstGeom prst="rect">
            <a:avLst/>
          </a:prstGeom>
          <a:noFill/>
          <a:ln/>
        </p:spPr>
        <p:txBody>
          <a:bodyPr wrap="square" lIns="381" tIns="381" rIns="381" bIns="381" rtlCol="0" anchor="t"/>
          <a:lstStyle/>
          <a:p>
            <a:pPr indent="0" marL="0">
              <a:buNone/>
            </a:pPr>
            <a:r>
              <a:rPr lang="en-US" sz="1400" dirty="0">
                <a:solidFill>
                  <a:srgbClr val="222222"/>
                </a:solidFill>
              </a:rPr>
              <a:t>The system forms a retrieval query from topic, payload, incident type, site, and severity.</a:t>
            </a:r>
            <a:endParaRPr lang="en-US" sz="1400" dirty="0"/>
          </a:p>
        </p:txBody>
      </p:sp>
      <p:sp>
        <p:nvSpPr>
          <p:cNvPr id="9" name="Shape 7"/>
          <p:cNvSpPr/>
          <p:nvPr/>
        </p:nvSpPr>
        <p:spPr>
          <a:xfrm>
            <a:off x="6355080" y="1554480"/>
            <a:ext cx="2423160" cy="2286000"/>
          </a:xfrm>
          <a:prstGeom prst="rect">
            <a:avLst/>
          </a:prstGeom>
          <a:solidFill>
            <a:srgbClr val="F7F7F7"/>
          </a:solidFill>
          <a:ln w="12700">
            <a:solidFill>
              <a:srgbClr val="A8A8A8"/>
            </a:solidFill>
            <a:prstDash val="solid"/>
          </a:ln>
        </p:spPr>
      </p:sp>
      <p:sp>
        <p:nvSpPr>
          <p:cNvPr id="10" name="Text 8"/>
          <p:cNvSpPr/>
          <p:nvPr/>
        </p:nvSpPr>
        <p:spPr>
          <a:xfrm>
            <a:off x="6519672" y="1664208"/>
            <a:ext cx="2093976" cy="219456"/>
          </a:xfrm>
          <a:prstGeom prst="rect">
            <a:avLst/>
          </a:prstGeom>
          <a:noFill/>
          <a:ln/>
        </p:spPr>
        <p:txBody>
          <a:bodyPr wrap="square" rtlCol="0" anchor="ctr"/>
          <a:lstStyle/>
          <a:p>
            <a:pPr indent="0" marL="0">
              <a:buNone/>
            </a:pPr>
            <a:r>
              <a:rPr lang="en-US" sz="1700" b="1" dirty="0">
                <a:solidFill>
                  <a:srgbClr val="111111"/>
                </a:solidFill>
              </a:rPr>
              <a:t>Retrieval</a:t>
            </a:r>
            <a:endParaRPr lang="en-US" sz="1700" dirty="0"/>
          </a:p>
        </p:txBody>
      </p:sp>
      <p:sp>
        <p:nvSpPr>
          <p:cNvPr id="11" name="Text 9"/>
          <p:cNvSpPr/>
          <p:nvPr/>
        </p:nvSpPr>
        <p:spPr>
          <a:xfrm>
            <a:off x="6519672" y="1947672"/>
            <a:ext cx="2093976" cy="1783080"/>
          </a:xfrm>
          <a:prstGeom prst="rect">
            <a:avLst/>
          </a:prstGeom>
          <a:noFill/>
          <a:ln/>
        </p:spPr>
        <p:txBody>
          <a:bodyPr wrap="square" lIns="381" tIns="381" rIns="381" bIns="381" rtlCol="0" anchor="t"/>
          <a:lstStyle/>
          <a:p>
            <a:pPr indent="0" marL="0">
              <a:buNone/>
            </a:pPr>
            <a:r>
              <a:rPr lang="en-US" sz="1400" dirty="0">
                <a:solidFill>
                  <a:srgbClr val="222222"/>
                </a:solidFill>
              </a:rPr>
              <a:t>Relevant paragraphs are found in runbooks or text files.</a:t>
            </a:r>
            <a:endParaRPr lang="en-US" sz="1400" dirty="0"/>
          </a:p>
        </p:txBody>
      </p:sp>
      <p:sp>
        <p:nvSpPr>
          <p:cNvPr id="12" name="Shape 10"/>
          <p:cNvSpPr/>
          <p:nvPr/>
        </p:nvSpPr>
        <p:spPr>
          <a:xfrm>
            <a:off x="9098280" y="1554480"/>
            <a:ext cx="2423160" cy="2286000"/>
          </a:xfrm>
          <a:prstGeom prst="rect">
            <a:avLst/>
          </a:prstGeom>
          <a:solidFill>
            <a:srgbClr val="F7F7F7"/>
          </a:solidFill>
          <a:ln w="12700">
            <a:solidFill>
              <a:srgbClr val="A8A8A8"/>
            </a:solidFill>
            <a:prstDash val="solid"/>
          </a:ln>
        </p:spPr>
      </p:sp>
      <p:sp>
        <p:nvSpPr>
          <p:cNvPr id="13" name="Text 11"/>
          <p:cNvSpPr/>
          <p:nvPr/>
        </p:nvSpPr>
        <p:spPr>
          <a:xfrm>
            <a:off x="9262872" y="1664208"/>
            <a:ext cx="2093976" cy="219456"/>
          </a:xfrm>
          <a:prstGeom prst="rect">
            <a:avLst/>
          </a:prstGeom>
          <a:noFill/>
          <a:ln/>
        </p:spPr>
        <p:txBody>
          <a:bodyPr wrap="square" rtlCol="0" anchor="ctr"/>
          <a:lstStyle/>
          <a:p>
            <a:pPr indent="0" marL="0">
              <a:buNone/>
            </a:pPr>
            <a:r>
              <a:rPr lang="en-US" sz="1700" b="1" dirty="0">
                <a:solidFill>
                  <a:srgbClr val="111111"/>
                </a:solidFill>
              </a:rPr>
              <a:t>Grounded Output</a:t>
            </a:r>
            <a:endParaRPr lang="en-US" sz="1700" dirty="0"/>
          </a:p>
        </p:txBody>
      </p:sp>
      <p:sp>
        <p:nvSpPr>
          <p:cNvPr id="14" name="Text 12"/>
          <p:cNvSpPr/>
          <p:nvPr/>
        </p:nvSpPr>
        <p:spPr>
          <a:xfrm>
            <a:off x="9262872" y="1947672"/>
            <a:ext cx="2093976" cy="1783080"/>
          </a:xfrm>
          <a:prstGeom prst="rect">
            <a:avLst/>
          </a:prstGeom>
          <a:noFill/>
          <a:ln/>
        </p:spPr>
        <p:txBody>
          <a:bodyPr wrap="square" lIns="381" tIns="381" rIns="381" bIns="381" rtlCol="0" anchor="t"/>
          <a:lstStyle/>
          <a:p>
            <a:pPr indent="0" marL="0">
              <a:buNone/>
            </a:pPr>
            <a:r>
              <a:rPr lang="en-US" sz="1400" dirty="0">
                <a:solidFill>
                  <a:srgbClr val="222222"/>
                </a:solidFill>
              </a:rPr>
              <a:t>The action layer uses those retrieved chunks to produce safer and more consistent guidance.</a:t>
            </a:r>
            <a:endParaRPr lang="en-US" sz="1400" dirty="0"/>
          </a:p>
        </p:txBody>
      </p:sp>
      <p:sp>
        <p:nvSpPr>
          <p:cNvPr id="15" name="Shape 13"/>
          <p:cNvSpPr/>
          <p:nvPr/>
        </p:nvSpPr>
        <p:spPr>
          <a:xfrm>
            <a:off x="914400" y="4297680"/>
            <a:ext cx="10149840" cy="1143000"/>
          </a:xfrm>
          <a:prstGeom prst="rect">
            <a:avLst/>
          </a:prstGeom>
          <a:solidFill>
            <a:srgbClr val="F7F7F7"/>
          </a:solidFill>
          <a:ln w="12700">
            <a:solidFill>
              <a:srgbClr val="A8A8A8"/>
            </a:solidFill>
            <a:prstDash val="solid"/>
          </a:ln>
        </p:spPr>
      </p:sp>
      <p:sp>
        <p:nvSpPr>
          <p:cNvPr id="16" name="Text 14"/>
          <p:cNvSpPr/>
          <p:nvPr/>
        </p:nvSpPr>
        <p:spPr>
          <a:xfrm>
            <a:off x="1078992" y="4407408"/>
            <a:ext cx="9820656" cy="219456"/>
          </a:xfrm>
          <a:prstGeom prst="rect">
            <a:avLst/>
          </a:prstGeom>
          <a:noFill/>
          <a:ln/>
        </p:spPr>
        <p:txBody>
          <a:bodyPr wrap="square" rtlCol="0" anchor="ctr"/>
          <a:lstStyle/>
          <a:p>
            <a:pPr indent="0" marL="0">
              <a:buNone/>
            </a:pPr>
            <a:r>
              <a:rPr lang="en-US" sz="1700" b="1" dirty="0">
                <a:solidFill>
                  <a:srgbClr val="111111"/>
                </a:solidFill>
              </a:rPr>
              <a:t>Why It Helps</a:t>
            </a:r>
            <a:endParaRPr lang="en-US" sz="1700" dirty="0"/>
          </a:p>
        </p:txBody>
      </p:sp>
      <p:sp>
        <p:nvSpPr>
          <p:cNvPr id="17" name="Text 15"/>
          <p:cNvSpPr/>
          <p:nvPr/>
        </p:nvSpPr>
        <p:spPr>
          <a:xfrm>
            <a:off x="1078992" y="4690872"/>
            <a:ext cx="9820656" cy="640080"/>
          </a:xfrm>
          <a:prstGeom prst="rect">
            <a:avLst/>
          </a:prstGeom>
          <a:noFill/>
          <a:ln/>
        </p:spPr>
        <p:txBody>
          <a:bodyPr wrap="square" lIns="381" tIns="381" rIns="381" bIns="381" rtlCol="0" anchor="t"/>
          <a:lstStyle/>
          <a:p>
            <a:pPr indent="0" marL="0">
              <a:buNone/>
            </a:pPr>
            <a:r>
              <a:rPr lang="en-US" sz="1400" dirty="0">
                <a:solidFill>
                  <a:srgbClr val="222222"/>
                </a:solidFill>
              </a:rPr>
              <a:t>RAG reduces unsupported recommendations and keeps answers aligned with project procedures. It turns the assistant into a grounded support layer instead of a generic text generator.</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Action Generation Layer</a:t>
            </a:r>
            <a:endParaRPr lang="en-US" sz="2600" dirty="0"/>
          </a:p>
        </p:txBody>
      </p:sp>
      <p:sp>
        <p:nvSpPr>
          <p:cNvPr id="3" name="Shape 1"/>
          <p:cNvSpPr/>
          <p:nvPr/>
        </p:nvSpPr>
        <p:spPr>
          <a:xfrm>
            <a:off x="868680" y="1325880"/>
            <a:ext cx="3337560" cy="2011680"/>
          </a:xfrm>
          <a:prstGeom prst="rect">
            <a:avLst/>
          </a:prstGeom>
          <a:solidFill>
            <a:srgbClr val="F7F7F7"/>
          </a:solidFill>
          <a:ln w="12700">
            <a:solidFill>
              <a:srgbClr val="A8A8A8"/>
            </a:solidFill>
            <a:prstDash val="solid"/>
          </a:ln>
        </p:spPr>
      </p:sp>
      <p:sp>
        <p:nvSpPr>
          <p:cNvPr id="4" name="Text 2"/>
          <p:cNvSpPr/>
          <p:nvPr/>
        </p:nvSpPr>
        <p:spPr>
          <a:xfrm>
            <a:off x="1033272" y="1435608"/>
            <a:ext cx="3008376" cy="219456"/>
          </a:xfrm>
          <a:prstGeom prst="rect">
            <a:avLst/>
          </a:prstGeom>
          <a:noFill/>
          <a:ln/>
        </p:spPr>
        <p:txBody>
          <a:bodyPr wrap="square" rtlCol="0" anchor="ctr"/>
          <a:lstStyle/>
          <a:p>
            <a:pPr indent="0" marL="0">
              <a:buNone/>
            </a:pPr>
            <a:r>
              <a:rPr lang="en-US" sz="1700" b="1" dirty="0">
                <a:solidFill>
                  <a:srgbClr val="111111"/>
                </a:solidFill>
              </a:rPr>
              <a:t>Inputs</a:t>
            </a:r>
            <a:endParaRPr lang="en-US" sz="1700" dirty="0"/>
          </a:p>
        </p:txBody>
      </p:sp>
      <p:sp>
        <p:nvSpPr>
          <p:cNvPr id="5" name="Text 3"/>
          <p:cNvSpPr/>
          <p:nvPr/>
        </p:nvSpPr>
        <p:spPr>
          <a:xfrm>
            <a:off x="1033272" y="1719072"/>
            <a:ext cx="3008376" cy="1508760"/>
          </a:xfrm>
          <a:prstGeom prst="rect">
            <a:avLst/>
          </a:prstGeom>
          <a:noFill/>
          <a:ln/>
        </p:spPr>
        <p:txBody>
          <a:bodyPr wrap="square" lIns="381" tIns="381" rIns="381" bIns="381" rtlCol="0" anchor="t"/>
          <a:lstStyle/>
          <a:p>
            <a:pPr indent="0" marL="0">
              <a:buNone/>
            </a:pPr>
            <a:r>
              <a:rPr lang="en-US" sz="1400" dirty="0">
                <a:solidFill>
                  <a:srgbClr val="222222"/>
                </a:solidFill>
              </a:rPr>
              <a:t>This layer uses event details, incident severity, retrieved runbook content, site context, and rule outputs.</a:t>
            </a:r>
            <a:endParaRPr lang="en-US" sz="1400" dirty="0"/>
          </a:p>
        </p:txBody>
      </p:sp>
      <p:sp>
        <p:nvSpPr>
          <p:cNvPr id="6" name="Shape 4"/>
          <p:cNvSpPr/>
          <p:nvPr/>
        </p:nvSpPr>
        <p:spPr>
          <a:xfrm>
            <a:off x="4434840" y="1325880"/>
            <a:ext cx="3337560" cy="2011680"/>
          </a:xfrm>
          <a:prstGeom prst="rect">
            <a:avLst/>
          </a:prstGeom>
          <a:solidFill>
            <a:srgbClr val="F7F7F7"/>
          </a:solidFill>
          <a:ln w="12700">
            <a:solidFill>
              <a:srgbClr val="A8A8A8"/>
            </a:solidFill>
            <a:prstDash val="solid"/>
          </a:ln>
        </p:spPr>
      </p:sp>
      <p:sp>
        <p:nvSpPr>
          <p:cNvPr id="7" name="Text 5"/>
          <p:cNvSpPr/>
          <p:nvPr/>
        </p:nvSpPr>
        <p:spPr>
          <a:xfrm>
            <a:off x="4599432" y="1435608"/>
            <a:ext cx="3008376" cy="219456"/>
          </a:xfrm>
          <a:prstGeom prst="rect">
            <a:avLst/>
          </a:prstGeom>
          <a:noFill/>
          <a:ln/>
        </p:spPr>
        <p:txBody>
          <a:bodyPr wrap="square" rtlCol="0" anchor="ctr"/>
          <a:lstStyle/>
          <a:p>
            <a:pPr indent="0" marL="0">
              <a:buNone/>
            </a:pPr>
            <a:r>
              <a:rPr lang="en-US" sz="1700" b="1" dirty="0">
                <a:solidFill>
                  <a:srgbClr val="111111"/>
                </a:solidFill>
              </a:rPr>
              <a:t>Processing</a:t>
            </a:r>
            <a:endParaRPr lang="en-US" sz="1700" dirty="0"/>
          </a:p>
        </p:txBody>
      </p:sp>
      <p:sp>
        <p:nvSpPr>
          <p:cNvPr id="8" name="Text 6"/>
          <p:cNvSpPr/>
          <p:nvPr/>
        </p:nvSpPr>
        <p:spPr>
          <a:xfrm>
            <a:off x="4599432" y="1719072"/>
            <a:ext cx="3008376" cy="1508760"/>
          </a:xfrm>
          <a:prstGeom prst="rect">
            <a:avLst/>
          </a:prstGeom>
          <a:noFill/>
          <a:ln/>
        </p:spPr>
        <p:txBody>
          <a:bodyPr wrap="square" lIns="381" tIns="381" rIns="381" bIns="381" rtlCol="0" anchor="t"/>
          <a:lstStyle/>
          <a:p>
            <a:pPr indent="0" marL="0">
              <a:buNone/>
            </a:pPr>
            <a:r>
              <a:rPr lang="en-US" sz="1400" dirty="0">
                <a:solidFill>
                  <a:srgbClr val="222222"/>
                </a:solidFill>
              </a:rPr>
              <a:t>It interprets the situation, decides what is urgent, and turns knowledge into operator actions that are specific and easy to follow.</a:t>
            </a:r>
            <a:endParaRPr lang="en-US" sz="1400" dirty="0"/>
          </a:p>
        </p:txBody>
      </p:sp>
      <p:sp>
        <p:nvSpPr>
          <p:cNvPr id="9" name="Shape 7"/>
          <p:cNvSpPr/>
          <p:nvPr/>
        </p:nvSpPr>
        <p:spPr>
          <a:xfrm>
            <a:off x="8001000" y="1325880"/>
            <a:ext cx="3063240" cy="2011680"/>
          </a:xfrm>
          <a:prstGeom prst="rect">
            <a:avLst/>
          </a:prstGeom>
          <a:solidFill>
            <a:srgbClr val="F7F7F7"/>
          </a:solidFill>
          <a:ln w="12700">
            <a:solidFill>
              <a:srgbClr val="A8A8A8"/>
            </a:solidFill>
            <a:prstDash val="solid"/>
          </a:ln>
        </p:spPr>
      </p:sp>
      <p:sp>
        <p:nvSpPr>
          <p:cNvPr id="10" name="Text 8"/>
          <p:cNvSpPr/>
          <p:nvPr/>
        </p:nvSpPr>
        <p:spPr>
          <a:xfrm>
            <a:off x="8165592" y="1435608"/>
            <a:ext cx="2734056" cy="219456"/>
          </a:xfrm>
          <a:prstGeom prst="rect">
            <a:avLst/>
          </a:prstGeom>
          <a:noFill/>
          <a:ln/>
        </p:spPr>
        <p:txBody>
          <a:bodyPr wrap="square" rtlCol="0" anchor="ctr"/>
          <a:lstStyle/>
          <a:p>
            <a:pPr indent="0" marL="0">
              <a:buNone/>
            </a:pPr>
            <a:r>
              <a:rPr lang="en-US" sz="1700" b="1" dirty="0">
                <a:solidFill>
                  <a:srgbClr val="111111"/>
                </a:solidFill>
              </a:rPr>
              <a:t>Outputs</a:t>
            </a:r>
            <a:endParaRPr lang="en-US" sz="1700" dirty="0"/>
          </a:p>
        </p:txBody>
      </p:sp>
      <p:sp>
        <p:nvSpPr>
          <p:cNvPr id="11" name="Text 9"/>
          <p:cNvSpPr/>
          <p:nvPr/>
        </p:nvSpPr>
        <p:spPr>
          <a:xfrm>
            <a:off x="8165592" y="1719072"/>
            <a:ext cx="2734056" cy="1508760"/>
          </a:xfrm>
          <a:prstGeom prst="rect">
            <a:avLst/>
          </a:prstGeom>
          <a:noFill/>
          <a:ln/>
        </p:spPr>
        <p:txBody>
          <a:bodyPr wrap="square" lIns="381" tIns="381" rIns="381" bIns="381" rtlCol="0" anchor="t"/>
          <a:lstStyle/>
          <a:p>
            <a:pPr indent="0" marL="0">
              <a:buNone/>
            </a:pPr>
            <a:r>
              <a:rPr lang="en-US" sz="1400" dirty="0">
                <a:solidFill>
                  <a:srgbClr val="222222"/>
                </a:solidFill>
              </a:rPr>
              <a:t>Examples include verify device status, isolate a device, notify a supervisor, monitor for recurrence, or escalate to security or maintenance teams.</a:t>
            </a:r>
            <a:endParaRPr lang="en-US" sz="1400" dirty="0"/>
          </a:p>
        </p:txBody>
      </p:sp>
      <p:sp>
        <p:nvSpPr>
          <p:cNvPr id="12" name="Text 10"/>
          <p:cNvSpPr/>
          <p:nvPr/>
        </p:nvSpPr>
        <p:spPr>
          <a:xfrm>
            <a:off x="914400" y="3977640"/>
            <a:ext cx="10058400" cy="1554480"/>
          </a:xfrm>
          <a:prstGeom prst="rect">
            <a:avLst/>
          </a:prstGeom>
          <a:noFill/>
          <a:ln/>
        </p:spPr>
        <p:txBody>
          <a:bodyPr wrap="square" lIns="635" tIns="635" rIns="635" bIns="635" rtlCol="0" anchor="t"/>
          <a:lstStyle/>
          <a:p>
            <a:pPr marL="203200" indent="-203200">
              <a:buSzPct val="100000"/>
              <a:buChar char="•"/>
            </a:pPr>
            <a:r>
              <a:rPr lang="en-US" sz="2000" dirty="0">
                <a:solidFill>
                  <a:srgbClr val="111111"/>
                </a:solidFill>
              </a:rPr>
              <a:t>Moves the system from detection to decision support</a:t>
            </a:r>
            <a:endParaRPr lang="en-US" sz="2000" dirty="0"/>
          </a:p>
          <a:p>
            <a:pPr marL="203200" indent="-203200">
              <a:buSzPct val="100000"/>
              <a:buChar char="•"/>
            </a:pPr>
            <a:r>
              <a:rPr lang="en-US" sz="2000" dirty="0">
                <a:solidFill>
                  <a:srgbClr val="111111"/>
                </a:solidFill>
              </a:rPr>
              <a:t>Uses real operational context instead of one size fits all advice</a:t>
            </a:r>
            <a:endParaRPr lang="en-US" sz="2000" dirty="0"/>
          </a:p>
          <a:p>
            <a:pPr marL="203200" indent="-203200">
              <a:buSzPct val="100000"/>
              <a:buChar char="•"/>
            </a:pPr>
            <a:r>
              <a:rPr lang="en-US" sz="2000" dirty="0">
                <a:solidFill>
                  <a:srgbClr val="111111"/>
                </a:solidFill>
              </a:rPr>
              <a:t>Improves response consistency across sites and shifts</a:t>
            </a:r>
            <a:endParaRPr lang="en-US" sz="20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Cross Site Prioritization Layer</a:t>
            </a:r>
            <a:endParaRPr lang="en-US" sz="2600" dirty="0"/>
          </a:p>
        </p:txBody>
      </p:sp>
      <p:sp>
        <p:nvSpPr>
          <p:cNvPr id="3" name="Shape 1"/>
          <p:cNvSpPr/>
          <p:nvPr/>
        </p:nvSpPr>
        <p:spPr>
          <a:xfrm>
            <a:off x="868680" y="1325880"/>
            <a:ext cx="5120640" cy="1783080"/>
          </a:xfrm>
          <a:prstGeom prst="rect">
            <a:avLst/>
          </a:prstGeom>
          <a:solidFill>
            <a:srgbClr val="F7F7F7"/>
          </a:solidFill>
          <a:ln w="12700">
            <a:solidFill>
              <a:srgbClr val="A8A8A8"/>
            </a:solidFill>
            <a:prstDash val="solid"/>
          </a:ln>
        </p:spPr>
      </p:sp>
      <p:sp>
        <p:nvSpPr>
          <p:cNvPr id="4" name="Text 2"/>
          <p:cNvSpPr/>
          <p:nvPr/>
        </p:nvSpPr>
        <p:spPr>
          <a:xfrm>
            <a:off x="1033272" y="1435608"/>
            <a:ext cx="4791456" cy="219456"/>
          </a:xfrm>
          <a:prstGeom prst="rect">
            <a:avLst/>
          </a:prstGeom>
          <a:noFill/>
          <a:ln/>
        </p:spPr>
        <p:txBody>
          <a:bodyPr wrap="square" rtlCol="0" anchor="ctr"/>
          <a:lstStyle/>
          <a:p>
            <a:pPr indent="0" marL="0">
              <a:buNone/>
            </a:pPr>
            <a:r>
              <a:rPr lang="en-US" sz="1700" b="1" dirty="0">
                <a:solidFill>
                  <a:srgbClr val="111111"/>
                </a:solidFill>
              </a:rPr>
              <a:t>Purpose</a:t>
            </a:r>
            <a:endParaRPr lang="en-US" sz="1700" dirty="0"/>
          </a:p>
        </p:txBody>
      </p:sp>
      <p:sp>
        <p:nvSpPr>
          <p:cNvPr id="5" name="Text 3"/>
          <p:cNvSpPr/>
          <p:nvPr/>
        </p:nvSpPr>
        <p:spPr>
          <a:xfrm>
            <a:off x="1033272" y="1719072"/>
            <a:ext cx="4791456" cy="1280160"/>
          </a:xfrm>
          <a:prstGeom prst="rect">
            <a:avLst/>
          </a:prstGeom>
          <a:noFill/>
          <a:ln/>
        </p:spPr>
        <p:txBody>
          <a:bodyPr wrap="square" lIns="381" tIns="381" rIns="381" bIns="381" rtlCol="0" anchor="t"/>
          <a:lstStyle/>
          <a:p>
            <a:pPr indent="0" marL="0">
              <a:buNone/>
            </a:pPr>
            <a:r>
              <a:rPr lang="en-US" sz="1400" dirty="0">
                <a:solidFill>
                  <a:srgbClr val="222222"/>
                </a:solidFill>
              </a:rPr>
              <a:t>When multiple sites send alerts at the same time, the system must decide what deserves attention first. This layer compares incidents across locations and ranks them.</a:t>
            </a:r>
            <a:endParaRPr lang="en-US" sz="1400" dirty="0"/>
          </a:p>
        </p:txBody>
      </p:sp>
      <p:sp>
        <p:nvSpPr>
          <p:cNvPr id="6" name="Shape 4"/>
          <p:cNvSpPr/>
          <p:nvPr/>
        </p:nvSpPr>
        <p:spPr>
          <a:xfrm>
            <a:off x="6172200" y="1325880"/>
            <a:ext cx="4892040" cy="1783080"/>
          </a:xfrm>
          <a:prstGeom prst="rect">
            <a:avLst/>
          </a:prstGeom>
          <a:solidFill>
            <a:srgbClr val="F7F7F7"/>
          </a:solidFill>
          <a:ln w="12700">
            <a:solidFill>
              <a:srgbClr val="A8A8A8"/>
            </a:solidFill>
            <a:prstDash val="solid"/>
          </a:ln>
        </p:spPr>
      </p:sp>
      <p:sp>
        <p:nvSpPr>
          <p:cNvPr id="7" name="Text 5"/>
          <p:cNvSpPr/>
          <p:nvPr/>
        </p:nvSpPr>
        <p:spPr>
          <a:xfrm>
            <a:off x="6336792" y="1435608"/>
            <a:ext cx="4562856" cy="219456"/>
          </a:xfrm>
          <a:prstGeom prst="rect">
            <a:avLst/>
          </a:prstGeom>
          <a:noFill/>
          <a:ln/>
        </p:spPr>
        <p:txBody>
          <a:bodyPr wrap="square" rtlCol="0" anchor="ctr"/>
          <a:lstStyle/>
          <a:p>
            <a:pPr indent="0" marL="0">
              <a:buNone/>
            </a:pPr>
            <a:r>
              <a:rPr lang="en-US" sz="1700" b="1" dirty="0">
                <a:solidFill>
                  <a:srgbClr val="111111"/>
                </a:solidFill>
              </a:rPr>
              <a:t>Scoring Factors</a:t>
            </a:r>
            <a:endParaRPr lang="en-US" sz="1700" dirty="0"/>
          </a:p>
        </p:txBody>
      </p:sp>
      <p:sp>
        <p:nvSpPr>
          <p:cNvPr id="8" name="Text 6"/>
          <p:cNvSpPr/>
          <p:nvPr/>
        </p:nvSpPr>
        <p:spPr>
          <a:xfrm>
            <a:off x="6336792" y="1719072"/>
            <a:ext cx="4562856" cy="1280160"/>
          </a:xfrm>
          <a:prstGeom prst="rect">
            <a:avLst/>
          </a:prstGeom>
          <a:noFill/>
          <a:ln/>
        </p:spPr>
        <p:txBody>
          <a:bodyPr wrap="square" lIns="381" tIns="381" rIns="381" bIns="381" rtlCol="0" anchor="t"/>
          <a:lstStyle/>
          <a:p>
            <a:pPr indent="0" marL="0">
              <a:buNone/>
            </a:pPr>
            <a:r>
              <a:rPr lang="en-US" sz="1400" dirty="0">
                <a:solidFill>
                  <a:srgbClr val="222222"/>
                </a:solidFill>
              </a:rPr>
              <a:t>Severity, site criticality, recurrence, business impact, safety impact, and confidence can all contribute to the final priority score.</a:t>
            </a:r>
            <a:endParaRPr lang="en-US" sz="1400" dirty="0"/>
          </a:p>
        </p:txBody>
      </p:sp>
      <p:sp>
        <p:nvSpPr>
          <p:cNvPr id="9" name="Text 7"/>
          <p:cNvSpPr/>
          <p:nvPr/>
        </p:nvSpPr>
        <p:spPr>
          <a:xfrm>
            <a:off x="914400" y="3611880"/>
            <a:ext cx="2377440" cy="274320"/>
          </a:xfrm>
          <a:prstGeom prst="rect">
            <a:avLst/>
          </a:prstGeom>
          <a:noFill/>
          <a:ln/>
        </p:spPr>
        <p:txBody>
          <a:bodyPr wrap="square" rtlCol="0" anchor="ctr"/>
          <a:lstStyle/>
          <a:p>
            <a:pPr indent="0" marL="0">
              <a:buNone/>
            </a:pPr>
            <a:r>
              <a:rPr lang="en-US" sz="2000" b="1" dirty="0">
                <a:solidFill>
                  <a:srgbClr val="111111"/>
                </a:solidFill>
              </a:rPr>
              <a:t>Simple ranking idea</a:t>
            </a:r>
            <a:endParaRPr lang="en-US" sz="2000" dirty="0"/>
          </a:p>
        </p:txBody>
      </p:sp>
      <p:sp>
        <p:nvSpPr>
          <p:cNvPr id="10" name="Shape 8"/>
          <p:cNvSpPr/>
          <p:nvPr/>
        </p:nvSpPr>
        <p:spPr>
          <a:xfrm>
            <a:off x="914400" y="3977640"/>
            <a:ext cx="4846320" cy="1051560"/>
          </a:xfrm>
          <a:prstGeom prst="rect">
            <a:avLst/>
          </a:prstGeom>
          <a:solidFill>
            <a:srgbClr val="FAFAFA"/>
          </a:solidFill>
          <a:ln w="12700">
            <a:solidFill>
              <a:srgbClr val="8A8A8A"/>
            </a:solidFill>
            <a:prstDash val="solid"/>
          </a:ln>
        </p:spPr>
      </p:sp>
      <p:sp>
        <p:nvSpPr>
          <p:cNvPr id="11" name="Text 9"/>
          <p:cNvSpPr/>
          <p:nvPr/>
        </p:nvSpPr>
        <p:spPr>
          <a:xfrm>
            <a:off x="1143000" y="4315968"/>
            <a:ext cx="4389120" cy="228600"/>
          </a:xfrm>
          <a:prstGeom prst="rect">
            <a:avLst/>
          </a:prstGeom>
          <a:noFill/>
          <a:ln/>
        </p:spPr>
        <p:txBody>
          <a:bodyPr wrap="square" rtlCol="0" anchor="ctr"/>
          <a:lstStyle/>
          <a:p>
            <a:pPr algn="ctr" indent="0" marL="0">
              <a:buNone/>
            </a:pPr>
            <a:r>
              <a:rPr lang="en-US" sz="1900" i="1" dirty="0">
                <a:solidFill>
                  <a:srgbClr val="111111"/>
                </a:solidFill>
              </a:rPr>
              <a:t>Priority score = severity + site criticality + recurrence + policy risk</a:t>
            </a:r>
            <a:endParaRPr lang="en-US" sz="1900" dirty="0"/>
          </a:p>
        </p:txBody>
      </p:sp>
      <p:sp>
        <p:nvSpPr>
          <p:cNvPr id="12" name="Shape 10"/>
          <p:cNvSpPr/>
          <p:nvPr/>
        </p:nvSpPr>
        <p:spPr>
          <a:xfrm>
            <a:off x="6126480" y="3886200"/>
            <a:ext cx="4937760" cy="1463040"/>
          </a:xfrm>
          <a:prstGeom prst="rect">
            <a:avLst/>
          </a:prstGeom>
          <a:solidFill>
            <a:srgbClr val="F7F7F7"/>
          </a:solidFill>
          <a:ln w="12700">
            <a:solidFill>
              <a:srgbClr val="A8A8A8"/>
            </a:solidFill>
            <a:prstDash val="solid"/>
          </a:ln>
        </p:spPr>
      </p:sp>
      <p:sp>
        <p:nvSpPr>
          <p:cNvPr id="13" name="Text 11"/>
          <p:cNvSpPr/>
          <p:nvPr/>
        </p:nvSpPr>
        <p:spPr>
          <a:xfrm>
            <a:off x="6291072" y="3995928"/>
            <a:ext cx="4608576" cy="219456"/>
          </a:xfrm>
          <a:prstGeom prst="rect">
            <a:avLst/>
          </a:prstGeom>
          <a:noFill/>
          <a:ln/>
        </p:spPr>
        <p:txBody>
          <a:bodyPr wrap="square" rtlCol="0" anchor="ctr"/>
          <a:lstStyle/>
          <a:p>
            <a:pPr indent="0" marL="0">
              <a:buNone/>
            </a:pPr>
            <a:r>
              <a:rPr lang="en-US" sz="1700" b="1" dirty="0">
                <a:solidFill>
                  <a:srgbClr val="111111"/>
                </a:solidFill>
              </a:rPr>
              <a:t>Value to Operators</a:t>
            </a:r>
            <a:endParaRPr lang="en-US" sz="1700" dirty="0"/>
          </a:p>
        </p:txBody>
      </p:sp>
      <p:sp>
        <p:nvSpPr>
          <p:cNvPr id="14" name="Text 12"/>
          <p:cNvSpPr/>
          <p:nvPr/>
        </p:nvSpPr>
        <p:spPr>
          <a:xfrm>
            <a:off x="6291072" y="4279392"/>
            <a:ext cx="4608576" cy="960120"/>
          </a:xfrm>
          <a:prstGeom prst="rect">
            <a:avLst/>
          </a:prstGeom>
          <a:noFill/>
          <a:ln/>
        </p:spPr>
        <p:txBody>
          <a:bodyPr wrap="square" lIns="381" tIns="381" rIns="381" bIns="381" rtlCol="0" anchor="t"/>
          <a:lstStyle/>
          <a:p>
            <a:pPr indent="0" marL="0">
              <a:buNone/>
            </a:pPr>
            <a:r>
              <a:rPr lang="en-US" sz="1400" dirty="0">
                <a:solidFill>
                  <a:srgbClr val="222222"/>
                </a:solidFill>
              </a:rPr>
              <a:t>This ranking step prevents important incidents from being buried under less important noise and helps teams focus quickly.</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Operator Output Layer</a:t>
            </a:r>
            <a:endParaRPr lang="en-US" sz="2600" dirty="0"/>
          </a:p>
        </p:txBody>
      </p:sp>
      <p:sp>
        <p:nvSpPr>
          <p:cNvPr id="3" name="Shape 1"/>
          <p:cNvSpPr/>
          <p:nvPr/>
        </p:nvSpPr>
        <p:spPr>
          <a:xfrm>
            <a:off x="868680" y="1325880"/>
            <a:ext cx="5029200" cy="1737360"/>
          </a:xfrm>
          <a:prstGeom prst="rect">
            <a:avLst/>
          </a:prstGeom>
          <a:solidFill>
            <a:srgbClr val="F7F7F7"/>
          </a:solidFill>
          <a:ln w="12700">
            <a:solidFill>
              <a:srgbClr val="A8A8A8"/>
            </a:solidFill>
            <a:prstDash val="solid"/>
          </a:ln>
        </p:spPr>
      </p:sp>
      <p:sp>
        <p:nvSpPr>
          <p:cNvPr id="4" name="Text 2"/>
          <p:cNvSpPr/>
          <p:nvPr/>
        </p:nvSpPr>
        <p:spPr>
          <a:xfrm>
            <a:off x="1033272" y="1435608"/>
            <a:ext cx="4700016" cy="219456"/>
          </a:xfrm>
          <a:prstGeom prst="rect">
            <a:avLst/>
          </a:prstGeom>
          <a:noFill/>
          <a:ln/>
        </p:spPr>
        <p:txBody>
          <a:bodyPr wrap="square" rtlCol="0" anchor="ctr"/>
          <a:lstStyle/>
          <a:p>
            <a:pPr indent="0" marL="0">
              <a:buNone/>
            </a:pPr>
            <a:r>
              <a:rPr lang="en-US" sz="1700" b="1" dirty="0">
                <a:solidFill>
                  <a:srgbClr val="111111"/>
                </a:solidFill>
              </a:rPr>
              <a:t>What the Operator Sees</a:t>
            </a:r>
            <a:endParaRPr lang="en-US" sz="1700" dirty="0"/>
          </a:p>
        </p:txBody>
      </p:sp>
      <p:sp>
        <p:nvSpPr>
          <p:cNvPr id="5" name="Text 3"/>
          <p:cNvSpPr/>
          <p:nvPr/>
        </p:nvSpPr>
        <p:spPr>
          <a:xfrm>
            <a:off x="1033272" y="1719072"/>
            <a:ext cx="4700016" cy="1234440"/>
          </a:xfrm>
          <a:prstGeom prst="rect">
            <a:avLst/>
          </a:prstGeom>
          <a:noFill/>
          <a:ln/>
        </p:spPr>
        <p:txBody>
          <a:bodyPr wrap="square" lIns="381" tIns="381" rIns="381" bIns="381" rtlCol="0" anchor="t"/>
          <a:lstStyle/>
          <a:p>
            <a:pPr indent="0" marL="0">
              <a:buNone/>
            </a:pPr>
            <a:r>
              <a:rPr lang="en-US" sz="1400" dirty="0">
                <a:solidFill>
                  <a:srgbClr val="222222"/>
                </a:solidFill>
              </a:rPr>
              <a:t>A short incident summary, site name, severity, recommended actions, evidence, and escalation guidance.</a:t>
            </a:r>
            <a:endParaRPr lang="en-US" sz="1400" dirty="0"/>
          </a:p>
        </p:txBody>
      </p:sp>
      <p:sp>
        <p:nvSpPr>
          <p:cNvPr id="6" name="Shape 4"/>
          <p:cNvSpPr/>
          <p:nvPr/>
        </p:nvSpPr>
        <p:spPr>
          <a:xfrm>
            <a:off x="6126480" y="1325880"/>
            <a:ext cx="4937760" cy="1737360"/>
          </a:xfrm>
          <a:prstGeom prst="rect">
            <a:avLst/>
          </a:prstGeom>
          <a:solidFill>
            <a:srgbClr val="F7F7F7"/>
          </a:solidFill>
          <a:ln w="12700">
            <a:solidFill>
              <a:srgbClr val="A8A8A8"/>
            </a:solidFill>
            <a:prstDash val="solid"/>
          </a:ln>
        </p:spPr>
      </p:sp>
      <p:sp>
        <p:nvSpPr>
          <p:cNvPr id="7" name="Text 5"/>
          <p:cNvSpPr/>
          <p:nvPr/>
        </p:nvSpPr>
        <p:spPr>
          <a:xfrm>
            <a:off x="6291072" y="1435608"/>
            <a:ext cx="4608576" cy="219456"/>
          </a:xfrm>
          <a:prstGeom prst="rect">
            <a:avLst/>
          </a:prstGeom>
          <a:noFill/>
          <a:ln/>
        </p:spPr>
        <p:txBody>
          <a:bodyPr wrap="square" rtlCol="0" anchor="ctr"/>
          <a:lstStyle/>
          <a:p>
            <a:pPr indent="0" marL="0">
              <a:buNone/>
            </a:pPr>
            <a:r>
              <a:rPr lang="en-US" sz="1700" b="1" dirty="0">
                <a:solidFill>
                  <a:srgbClr val="111111"/>
                </a:solidFill>
              </a:rPr>
              <a:t>Possible Delivery Channels</a:t>
            </a:r>
            <a:endParaRPr lang="en-US" sz="1700" dirty="0"/>
          </a:p>
        </p:txBody>
      </p:sp>
      <p:sp>
        <p:nvSpPr>
          <p:cNvPr id="8" name="Text 6"/>
          <p:cNvSpPr/>
          <p:nvPr/>
        </p:nvSpPr>
        <p:spPr>
          <a:xfrm>
            <a:off x="6291072" y="1719072"/>
            <a:ext cx="4608576" cy="1234440"/>
          </a:xfrm>
          <a:prstGeom prst="rect">
            <a:avLst/>
          </a:prstGeom>
          <a:noFill/>
          <a:ln/>
        </p:spPr>
        <p:txBody>
          <a:bodyPr wrap="square" lIns="381" tIns="381" rIns="381" bIns="381" rtlCol="0" anchor="t"/>
          <a:lstStyle/>
          <a:p>
            <a:pPr indent="0" marL="0">
              <a:buNone/>
            </a:pPr>
            <a:r>
              <a:rPr lang="en-US" sz="1400" dirty="0">
                <a:solidFill>
                  <a:srgbClr val="222222"/>
                </a:solidFill>
              </a:rPr>
              <a:t>FastAPI GET responses, a dashboard card view, a shift summary page, or integration into an operations console.</a:t>
            </a:r>
            <a:endParaRPr lang="en-US" sz="1400" dirty="0"/>
          </a:p>
        </p:txBody>
      </p:sp>
      <p:sp>
        <p:nvSpPr>
          <p:cNvPr id="9" name="Shape 7"/>
          <p:cNvSpPr/>
          <p:nvPr/>
        </p:nvSpPr>
        <p:spPr>
          <a:xfrm>
            <a:off x="914400" y="3611880"/>
            <a:ext cx="10149840" cy="1280160"/>
          </a:xfrm>
          <a:prstGeom prst="rect">
            <a:avLst/>
          </a:prstGeom>
          <a:solidFill>
            <a:srgbClr val="F7F7F7"/>
          </a:solidFill>
          <a:ln w="12700">
            <a:solidFill>
              <a:srgbClr val="A8A8A8"/>
            </a:solidFill>
            <a:prstDash val="solid"/>
          </a:ln>
        </p:spPr>
      </p:sp>
      <p:sp>
        <p:nvSpPr>
          <p:cNvPr id="10" name="Text 8"/>
          <p:cNvSpPr/>
          <p:nvPr/>
        </p:nvSpPr>
        <p:spPr>
          <a:xfrm>
            <a:off x="1078992" y="3721608"/>
            <a:ext cx="9820656" cy="219456"/>
          </a:xfrm>
          <a:prstGeom prst="rect">
            <a:avLst/>
          </a:prstGeom>
          <a:noFill/>
          <a:ln/>
        </p:spPr>
        <p:txBody>
          <a:bodyPr wrap="square" rtlCol="0" anchor="ctr"/>
          <a:lstStyle/>
          <a:p>
            <a:pPr indent="0" marL="0">
              <a:buNone/>
            </a:pPr>
            <a:r>
              <a:rPr lang="en-US" sz="1700" b="1" dirty="0">
                <a:solidFill>
                  <a:srgbClr val="111111"/>
                </a:solidFill>
              </a:rPr>
              <a:t>Example Output</a:t>
            </a:r>
            <a:endParaRPr lang="en-US" sz="1700" dirty="0"/>
          </a:p>
        </p:txBody>
      </p:sp>
      <p:sp>
        <p:nvSpPr>
          <p:cNvPr id="11" name="Text 9"/>
          <p:cNvSpPr/>
          <p:nvPr/>
        </p:nvSpPr>
        <p:spPr>
          <a:xfrm>
            <a:off x="1078992" y="4005072"/>
            <a:ext cx="9820656" cy="777240"/>
          </a:xfrm>
          <a:prstGeom prst="rect">
            <a:avLst/>
          </a:prstGeom>
          <a:noFill/>
          <a:ln/>
        </p:spPr>
        <p:txBody>
          <a:bodyPr wrap="square" lIns="381" tIns="381" rIns="381" bIns="381" rtlCol="0" anchor="t"/>
          <a:lstStyle/>
          <a:p>
            <a:pPr indent="0" marL="0">
              <a:buNone/>
            </a:pPr>
            <a:r>
              <a:rPr lang="en-US" sz="1400" dirty="0">
                <a:solidFill>
                  <a:srgbClr val="222222"/>
                </a:solidFill>
              </a:rPr>
              <a:t>High priority incident detected at Site B. Repeated failed logins observed on PLC 22. Recommended action is to verify source, lock the account if needed, notify the supervisor, and continue monitoring.</a:t>
            </a:r>
            <a:endParaRPr lang="en-US" sz="1400" dirty="0"/>
          </a:p>
        </p:txBody>
      </p:sp>
      <p:sp>
        <p:nvSpPr>
          <p:cNvPr id="12" name="Text 10"/>
          <p:cNvSpPr/>
          <p:nvPr/>
        </p:nvSpPr>
        <p:spPr>
          <a:xfrm>
            <a:off x="914400" y="5212080"/>
            <a:ext cx="10058400" cy="822960"/>
          </a:xfrm>
          <a:prstGeom prst="rect">
            <a:avLst/>
          </a:prstGeom>
          <a:noFill/>
          <a:ln/>
        </p:spPr>
        <p:txBody>
          <a:bodyPr wrap="square" lIns="635" tIns="635" rIns="635" bIns="635" rtlCol="0" anchor="t"/>
          <a:lstStyle/>
          <a:p>
            <a:pPr marL="193040" indent="-193040">
              <a:buSzPct val="100000"/>
              <a:buChar char="•"/>
            </a:pPr>
            <a:r>
              <a:rPr lang="en-US" sz="1900" dirty="0">
                <a:solidFill>
                  <a:srgbClr val="111111"/>
                </a:solidFill>
              </a:rPr>
              <a:t>The final layer must be short, clear, and actionable</a:t>
            </a:r>
            <a:endParaRPr lang="en-US" sz="1900" dirty="0"/>
          </a:p>
          <a:p>
            <a:pPr marL="193040" indent="-193040">
              <a:buSzPct val="100000"/>
              <a:buChar char="•"/>
            </a:pPr>
            <a:r>
              <a:rPr lang="en-US" sz="1900" dirty="0">
                <a:solidFill>
                  <a:srgbClr val="111111"/>
                </a:solidFill>
              </a:rPr>
              <a:t>Good outputs explain both what happened and what to do next</a:t>
            </a:r>
            <a:endParaRPr lang="en-US" sz="19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Example Scenario Walkthrough</a:t>
            </a:r>
            <a:endParaRPr lang="en-US" sz="2600" dirty="0"/>
          </a:p>
        </p:txBody>
      </p:sp>
      <p:sp>
        <p:nvSpPr>
          <p:cNvPr id="3" name="Text 1"/>
          <p:cNvSpPr/>
          <p:nvPr/>
        </p:nvSpPr>
        <p:spPr>
          <a:xfrm>
            <a:off x="914400" y="1417320"/>
            <a:ext cx="9966960" cy="3611880"/>
          </a:xfrm>
          <a:prstGeom prst="rect">
            <a:avLst/>
          </a:prstGeom>
          <a:noFill/>
          <a:ln/>
        </p:spPr>
        <p:txBody>
          <a:bodyPr wrap="square" lIns="635" tIns="635" rIns="635" bIns="635" rtlCol="0" anchor="t"/>
          <a:lstStyle/>
          <a:p>
            <a:pPr marL="203200" indent="-203200">
              <a:buSzPct val="100000"/>
              <a:buChar char="•"/>
            </a:pPr>
            <a:r>
              <a:rPr lang="en-US" sz="2000" dirty="0">
                <a:solidFill>
                  <a:srgbClr val="111111"/>
                </a:solidFill>
              </a:rPr>
              <a:t>A failed login burst is received from a control device at a plant site.</a:t>
            </a:r>
            <a:endParaRPr lang="en-US" sz="2000" dirty="0"/>
          </a:p>
          <a:p>
            <a:pPr marL="203200" indent="-203200">
              <a:buSzPct val="100000"/>
              <a:buChar char="•"/>
            </a:pPr>
            <a:r>
              <a:rPr lang="en-US" sz="2000" dirty="0">
                <a:solidFill>
                  <a:srgbClr val="111111"/>
                </a:solidFill>
              </a:rPr>
              <a:t>The event is written to SQLite and checked by incident logic.</a:t>
            </a:r>
            <a:endParaRPr lang="en-US" sz="2000" dirty="0"/>
          </a:p>
          <a:p>
            <a:pPr marL="203200" indent="-203200">
              <a:buSzPct val="100000"/>
              <a:buChar char="•"/>
            </a:pPr>
            <a:r>
              <a:rPr lang="en-US" sz="2000" dirty="0">
                <a:solidFill>
                  <a:srgbClr val="111111"/>
                </a:solidFill>
              </a:rPr>
              <a:t>The system classifies the event as a likely security or access incident.</a:t>
            </a:r>
            <a:endParaRPr lang="en-US" sz="2000" dirty="0"/>
          </a:p>
          <a:p>
            <a:pPr marL="203200" indent="-203200">
              <a:buSzPct val="100000"/>
              <a:buChar char="•"/>
            </a:pPr>
            <a:r>
              <a:rPr lang="en-US" sz="2000" dirty="0">
                <a:solidFill>
                  <a:srgbClr val="111111"/>
                </a:solidFill>
              </a:rPr>
              <a:t>Relevant login failure runbook text is retrieved from the knowledge base.</a:t>
            </a:r>
            <a:endParaRPr lang="en-US" sz="2000" dirty="0"/>
          </a:p>
          <a:p>
            <a:pPr marL="203200" indent="-203200">
              <a:buSzPct val="100000"/>
              <a:buChar char="•"/>
            </a:pPr>
            <a:r>
              <a:rPr lang="en-US" sz="2000" dirty="0">
                <a:solidFill>
                  <a:srgbClr val="111111"/>
                </a:solidFill>
              </a:rPr>
              <a:t>The action layer recommends verification, account review, escalation, and monitoring.</a:t>
            </a:r>
            <a:endParaRPr lang="en-US" sz="2000" dirty="0"/>
          </a:p>
          <a:p>
            <a:pPr marL="203200" indent="-203200">
              <a:buSzPct val="100000"/>
              <a:buChar char="•"/>
            </a:pPr>
            <a:r>
              <a:rPr lang="en-US" sz="2000" dirty="0">
                <a:solidFill>
                  <a:srgbClr val="111111"/>
                </a:solidFill>
              </a:rPr>
              <a:t>The prioritization layer ranks it above low impact alerts from other sites.</a:t>
            </a:r>
            <a:endParaRPr lang="en-US" sz="2000" dirty="0"/>
          </a:p>
        </p:txBody>
      </p:sp>
      <p:sp>
        <p:nvSpPr>
          <p:cNvPr id="4" name="Shape 2"/>
          <p:cNvSpPr/>
          <p:nvPr/>
        </p:nvSpPr>
        <p:spPr>
          <a:xfrm>
            <a:off x="914400" y="5212080"/>
            <a:ext cx="10149840" cy="640080"/>
          </a:xfrm>
          <a:prstGeom prst="rect">
            <a:avLst/>
          </a:prstGeom>
          <a:solidFill>
            <a:srgbClr val="F7F7F7"/>
          </a:solidFill>
          <a:ln w="12700">
            <a:solidFill>
              <a:srgbClr val="A8A8A8"/>
            </a:solidFill>
            <a:prstDash val="solid"/>
          </a:ln>
        </p:spPr>
      </p:sp>
      <p:sp>
        <p:nvSpPr>
          <p:cNvPr id="5" name="Text 3"/>
          <p:cNvSpPr/>
          <p:nvPr/>
        </p:nvSpPr>
        <p:spPr>
          <a:xfrm>
            <a:off x="1078992" y="5321808"/>
            <a:ext cx="9820656" cy="219456"/>
          </a:xfrm>
          <a:prstGeom prst="rect">
            <a:avLst/>
          </a:prstGeom>
          <a:noFill/>
          <a:ln/>
        </p:spPr>
        <p:txBody>
          <a:bodyPr wrap="square" rtlCol="0" anchor="ctr"/>
          <a:lstStyle/>
          <a:p>
            <a:pPr indent="0" marL="0">
              <a:buNone/>
            </a:pPr>
            <a:r>
              <a:rPr lang="en-US" sz="1700" b="1" dirty="0">
                <a:solidFill>
                  <a:srgbClr val="111111"/>
                </a:solidFill>
              </a:rPr>
              <a:t>Key Lesson</a:t>
            </a:r>
            <a:endParaRPr lang="en-US" sz="1700" dirty="0"/>
          </a:p>
        </p:txBody>
      </p:sp>
      <p:sp>
        <p:nvSpPr>
          <p:cNvPr id="6" name="Text 4"/>
          <p:cNvSpPr/>
          <p:nvPr/>
        </p:nvSpPr>
        <p:spPr>
          <a:xfrm>
            <a:off x="1078992" y="5605272"/>
            <a:ext cx="9820656" cy="137160"/>
          </a:xfrm>
          <a:prstGeom prst="rect">
            <a:avLst/>
          </a:prstGeom>
          <a:noFill/>
          <a:ln/>
        </p:spPr>
        <p:txBody>
          <a:bodyPr wrap="square" lIns="381" tIns="381" rIns="381" bIns="381" rtlCol="0" anchor="t"/>
          <a:lstStyle/>
          <a:p>
            <a:pPr indent="0" marL="0">
              <a:buNone/>
            </a:pPr>
            <a:r>
              <a:rPr lang="en-US" sz="1400" dirty="0">
                <a:solidFill>
                  <a:srgbClr val="222222"/>
                </a:solidFill>
              </a:rPr>
              <a:t>Every layer adds value. Storage creates traceability, RAG adds grounding, and prioritization improves operator focus.</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Current Limitations and Improvements</a:t>
            </a:r>
            <a:endParaRPr lang="en-US" sz="2600" dirty="0"/>
          </a:p>
        </p:txBody>
      </p:sp>
      <p:sp>
        <p:nvSpPr>
          <p:cNvPr id="3" name="Shape 1"/>
          <p:cNvSpPr/>
          <p:nvPr/>
        </p:nvSpPr>
        <p:spPr>
          <a:xfrm>
            <a:off x="868680" y="1325880"/>
            <a:ext cx="5120640" cy="2011680"/>
          </a:xfrm>
          <a:prstGeom prst="rect">
            <a:avLst/>
          </a:prstGeom>
          <a:solidFill>
            <a:srgbClr val="F7F7F7"/>
          </a:solidFill>
          <a:ln w="12700">
            <a:solidFill>
              <a:srgbClr val="A8A8A8"/>
            </a:solidFill>
            <a:prstDash val="solid"/>
          </a:ln>
        </p:spPr>
      </p:sp>
      <p:sp>
        <p:nvSpPr>
          <p:cNvPr id="4" name="Text 2"/>
          <p:cNvSpPr/>
          <p:nvPr/>
        </p:nvSpPr>
        <p:spPr>
          <a:xfrm>
            <a:off x="1033272" y="1435608"/>
            <a:ext cx="4791456" cy="219456"/>
          </a:xfrm>
          <a:prstGeom prst="rect">
            <a:avLst/>
          </a:prstGeom>
          <a:noFill/>
          <a:ln/>
        </p:spPr>
        <p:txBody>
          <a:bodyPr wrap="square" rtlCol="0" anchor="ctr"/>
          <a:lstStyle/>
          <a:p>
            <a:pPr indent="0" marL="0">
              <a:buNone/>
            </a:pPr>
            <a:r>
              <a:rPr lang="en-US" sz="1700" b="1" dirty="0">
                <a:solidFill>
                  <a:srgbClr val="111111"/>
                </a:solidFill>
              </a:rPr>
              <a:t>Current Gaps</a:t>
            </a:r>
            <a:endParaRPr lang="en-US" sz="1700" dirty="0"/>
          </a:p>
        </p:txBody>
      </p:sp>
      <p:sp>
        <p:nvSpPr>
          <p:cNvPr id="5" name="Text 3"/>
          <p:cNvSpPr/>
          <p:nvPr/>
        </p:nvSpPr>
        <p:spPr>
          <a:xfrm>
            <a:off x="1033272" y="1719072"/>
            <a:ext cx="4791456" cy="1508760"/>
          </a:xfrm>
          <a:prstGeom prst="rect">
            <a:avLst/>
          </a:prstGeom>
          <a:noFill/>
          <a:ln/>
        </p:spPr>
        <p:txBody>
          <a:bodyPr wrap="square" lIns="381" tIns="381" rIns="381" bIns="381" rtlCol="0" anchor="t"/>
          <a:lstStyle/>
          <a:p>
            <a:pPr indent="0" marL="0">
              <a:buNone/>
            </a:pPr>
            <a:r>
              <a:rPr lang="en-US" sz="1400" dirty="0">
                <a:solidFill>
                  <a:srgbClr val="222222"/>
                </a:solidFill>
              </a:rPr>
              <a:t>The project may depend on simple rules, local text files, and a small database. Some alerts may still be noisy. Scoring logic may need tuning as real operational volume increases.</a:t>
            </a:r>
            <a:endParaRPr lang="en-US" sz="1400" dirty="0"/>
          </a:p>
        </p:txBody>
      </p:sp>
      <p:sp>
        <p:nvSpPr>
          <p:cNvPr id="6" name="Shape 4"/>
          <p:cNvSpPr/>
          <p:nvPr/>
        </p:nvSpPr>
        <p:spPr>
          <a:xfrm>
            <a:off x="6172200" y="1325880"/>
            <a:ext cx="4892040" cy="2011680"/>
          </a:xfrm>
          <a:prstGeom prst="rect">
            <a:avLst/>
          </a:prstGeom>
          <a:solidFill>
            <a:srgbClr val="F7F7F7"/>
          </a:solidFill>
          <a:ln w="12700">
            <a:solidFill>
              <a:srgbClr val="A8A8A8"/>
            </a:solidFill>
            <a:prstDash val="solid"/>
          </a:ln>
        </p:spPr>
      </p:sp>
      <p:sp>
        <p:nvSpPr>
          <p:cNvPr id="7" name="Text 5"/>
          <p:cNvSpPr/>
          <p:nvPr/>
        </p:nvSpPr>
        <p:spPr>
          <a:xfrm>
            <a:off x="6336792" y="1435608"/>
            <a:ext cx="4562856" cy="219456"/>
          </a:xfrm>
          <a:prstGeom prst="rect">
            <a:avLst/>
          </a:prstGeom>
          <a:noFill/>
          <a:ln/>
        </p:spPr>
        <p:txBody>
          <a:bodyPr wrap="square" rtlCol="0" anchor="ctr"/>
          <a:lstStyle/>
          <a:p>
            <a:pPr indent="0" marL="0">
              <a:buNone/>
            </a:pPr>
            <a:r>
              <a:rPr lang="en-US" sz="1700" b="1" dirty="0">
                <a:solidFill>
                  <a:srgbClr val="111111"/>
                </a:solidFill>
              </a:rPr>
              <a:t>Recommended Improvements</a:t>
            </a:r>
            <a:endParaRPr lang="en-US" sz="1700" dirty="0"/>
          </a:p>
        </p:txBody>
      </p:sp>
      <p:sp>
        <p:nvSpPr>
          <p:cNvPr id="8" name="Text 6"/>
          <p:cNvSpPr/>
          <p:nvPr/>
        </p:nvSpPr>
        <p:spPr>
          <a:xfrm>
            <a:off x="6336792" y="1719072"/>
            <a:ext cx="4562856" cy="1508760"/>
          </a:xfrm>
          <a:prstGeom prst="rect">
            <a:avLst/>
          </a:prstGeom>
          <a:noFill/>
          <a:ln/>
        </p:spPr>
        <p:txBody>
          <a:bodyPr wrap="square" lIns="381" tIns="381" rIns="381" bIns="381" rtlCol="0" anchor="t"/>
          <a:lstStyle/>
          <a:p>
            <a:pPr indent="0" marL="0">
              <a:buNone/>
            </a:pPr>
            <a:r>
              <a:rPr lang="en-US" sz="1400" dirty="0">
                <a:solidFill>
                  <a:srgbClr val="222222"/>
                </a:solidFill>
              </a:rPr>
              <a:t>Add richer incident correlation, stronger observability, better feedback loops, more detailed site criticality models, and stronger knowledge maintenance for runbooks.</a:t>
            </a:r>
            <a:endParaRPr lang="en-US" sz="1400" dirty="0"/>
          </a:p>
        </p:txBody>
      </p:sp>
      <p:sp>
        <p:nvSpPr>
          <p:cNvPr id="9" name="Text 7"/>
          <p:cNvSpPr/>
          <p:nvPr/>
        </p:nvSpPr>
        <p:spPr>
          <a:xfrm>
            <a:off x="914400" y="3931920"/>
            <a:ext cx="10058400" cy="1463040"/>
          </a:xfrm>
          <a:prstGeom prst="rect">
            <a:avLst/>
          </a:prstGeom>
          <a:noFill/>
          <a:ln/>
        </p:spPr>
        <p:txBody>
          <a:bodyPr wrap="square" lIns="635" tIns="635" rIns="635" bIns="635" rtlCol="0" anchor="t"/>
          <a:lstStyle/>
          <a:p>
            <a:pPr marL="203200" indent="-203200">
              <a:buSzPct val="100000"/>
              <a:buChar char="•"/>
            </a:pPr>
            <a:r>
              <a:rPr lang="en-US" sz="2000" dirty="0">
                <a:solidFill>
                  <a:srgbClr val="111111"/>
                </a:solidFill>
              </a:rPr>
              <a:t>Introduce better historical analytics and trend reporting</a:t>
            </a:r>
            <a:endParaRPr lang="en-US" sz="2000" dirty="0"/>
          </a:p>
          <a:p>
            <a:pPr marL="203200" indent="-203200">
              <a:buSzPct val="100000"/>
              <a:buChar char="•"/>
            </a:pPr>
            <a:r>
              <a:rPr lang="en-US" sz="2000" dirty="0">
                <a:solidFill>
                  <a:srgbClr val="111111"/>
                </a:solidFill>
              </a:rPr>
              <a:t>Add user feedback to improve action quality over time</a:t>
            </a:r>
            <a:endParaRPr lang="en-US" sz="2000" dirty="0"/>
          </a:p>
          <a:p>
            <a:pPr marL="203200" indent="-203200">
              <a:buSzPct val="100000"/>
              <a:buChar char="•"/>
            </a:pPr>
            <a:r>
              <a:rPr lang="en-US" sz="2000" dirty="0">
                <a:solidFill>
                  <a:srgbClr val="111111"/>
                </a:solidFill>
              </a:rPr>
              <a:t>Expand beyond local SQLite when scale and concurrency grow</a:t>
            </a:r>
            <a:endParaRPr lang="en-US" sz="20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49808" y="512064"/>
            <a:ext cx="6858000" cy="347472"/>
          </a:xfrm>
          <a:prstGeom prst="rect">
            <a:avLst/>
          </a:prstGeom>
          <a:noFill/>
          <a:ln/>
        </p:spPr>
        <p:txBody>
          <a:bodyPr wrap="square" rtlCol="0" anchor="ctr"/>
          <a:lstStyle/>
          <a:p>
            <a:pPr indent="0" marL="0">
              <a:buNone/>
            </a:pPr>
            <a:r>
              <a:rPr lang="en-US" sz="2600" b="1" dirty="0">
                <a:solidFill>
                  <a:srgbClr val="111111"/>
                </a:solidFill>
              </a:rPr>
              <a:t>Conclusion</a:t>
            </a:r>
            <a:endParaRPr lang="en-US" sz="2600" dirty="0"/>
          </a:p>
        </p:txBody>
      </p:sp>
      <p:sp>
        <p:nvSpPr>
          <p:cNvPr id="3" name="Text 1"/>
          <p:cNvSpPr/>
          <p:nvPr/>
        </p:nvSpPr>
        <p:spPr>
          <a:xfrm>
            <a:off x="914400" y="1554480"/>
            <a:ext cx="9875520" cy="502920"/>
          </a:xfrm>
          <a:prstGeom prst="rect">
            <a:avLst/>
          </a:prstGeom>
          <a:noFill/>
          <a:ln/>
        </p:spPr>
        <p:txBody>
          <a:bodyPr wrap="square" rtlCol="0" anchor="ctr"/>
          <a:lstStyle/>
          <a:p>
            <a:pPr indent="0" marL="0">
              <a:buNone/>
            </a:pPr>
            <a:r>
              <a:rPr lang="en-US" sz="2400" b="1" dirty="0">
                <a:solidFill>
                  <a:srgbClr val="111111"/>
                </a:solidFill>
              </a:rPr>
              <a:t>Remote Operation Assistance is valuable because it turns incoming operational signals into practical operator support.</a:t>
            </a:r>
            <a:endParaRPr lang="en-US" sz="2400" dirty="0"/>
          </a:p>
        </p:txBody>
      </p:sp>
      <p:sp>
        <p:nvSpPr>
          <p:cNvPr id="4" name="Text 2"/>
          <p:cNvSpPr/>
          <p:nvPr/>
        </p:nvSpPr>
        <p:spPr>
          <a:xfrm>
            <a:off x="914400" y="2468880"/>
            <a:ext cx="9966960" cy="2651760"/>
          </a:xfrm>
          <a:prstGeom prst="rect">
            <a:avLst/>
          </a:prstGeom>
          <a:noFill/>
          <a:ln/>
        </p:spPr>
        <p:txBody>
          <a:bodyPr wrap="square" lIns="635" tIns="635" rIns="635" bIns="635" rtlCol="0" anchor="t"/>
          <a:lstStyle/>
          <a:p>
            <a:pPr marL="213360" indent="-213360">
              <a:buSzPct val="100000"/>
              <a:buChar char="•"/>
            </a:pPr>
            <a:r>
              <a:rPr lang="en-US" sz="2100" dirty="0">
                <a:solidFill>
                  <a:srgbClr val="111111"/>
                </a:solidFill>
              </a:rPr>
              <a:t>FastAPI handles the entry and output points</a:t>
            </a:r>
            <a:endParaRPr lang="en-US" sz="2100" dirty="0"/>
          </a:p>
          <a:p>
            <a:pPr marL="213360" indent="-213360">
              <a:buSzPct val="100000"/>
              <a:buChar char="•"/>
            </a:pPr>
            <a:r>
              <a:rPr lang="en-US" sz="2100" dirty="0">
                <a:solidFill>
                  <a:srgbClr val="111111"/>
                </a:solidFill>
              </a:rPr>
              <a:t>SQLite stores events and processed records</a:t>
            </a:r>
            <a:endParaRPr lang="en-US" sz="2100" dirty="0"/>
          </a:p>
          <a:p>
            <a:pPr marL="213360" indent="-213360">
              <a:buSzPct val="100000"/>
              <a:buChar char="•"/>
            </a:pPr>
            <a:r>
              <a:rPr lang="en-US" sz="2100" dirty="0">
                <a:solidFill>
                  <a:srgbClr val="111111"/>
                </a:solidFill>
              </a:rPr>
              <a:t>Runbooks and text files provide grounded operational knowledge</a:t>
            </a:r>
            <a:endParaRPr lang="en-US" sz="2100" dirty="0"/>
          </a:p>
          <a:p>
            <a:pPr marL="213360" indent="-213360">
              <a:buSzPct val="100000"/>
              <a:buChar char="•"/>
            </a:pPr>
            <a:r>
              <a:rPr lang="en-US" sz="2100" dirty="0">
                <a:solidFill>
                  <a:srgbClr val="111111"/>
                </a:solidFill>
              </a:rPr>
              <a:t>RAG, action generation, and cross site prioritization create the real decision support value</a:t>
            </a:r>
            <a:endParaRPr lang="en-US" sz="2100" dirty="0"/>
          </a:p>
        </p:txBody>
      </p:sp>
      <p:sp>
        <p:nvSpPr>
          <p:cNvPr id="5" name="Shape 3"/>
          <p:cNvSpPr/>
          <p:nvPr/>
        </p:nvSpPr>
        <p:spPr>
          <a:xfrm>
            <a:off x="914400" y="5257800"/>
            <a:ext cx="10149840" cy="777240"/>
          </a:xfrm>
          <a:prstGeom prst="rect">
            <a:avLst/>
          </a:prstGeom>
          <a:solidFill>
            <a:srgbClr val="F7F7F7"/>
          </a:solidFill>
          <a:ln w="12700">
            <a:solidFill>
              <a:srgbClr val="A8A8A8"/>
            </a:solidFill>
            <a:prstDash val="solid"/>
          </a:ln>
        </p:spPr>
      </p:sp>
      <p:sp>
        <p:nvSpPr>
          <p:cNvPr id="6" name="Text 4"/>
          <p:cNvSpPr/>
          <p:nvPr/>
        </p:nvSpPr>
        <p:spPr>
          <a:xfrm>
            <a:off x="1078992" y="5367528"/>
            <a:ext cx="9820656" cy="219456"/>
          </a:xfrm>
          <a:prstGeom prst="rect">
            <a:avLst/>
          </a:prstGeom>
          <a:noFill/>
          <a:ln/>
        </p:spPr>
        <p:txBody>
          <a:bodyPr wrap="square" rtlCol="0" anchor="ctr"/>
          <a:lstStyle/>
          <a:p>
            <a:pPr indent="0" marL="0">
              <a:buNone/>
            </a:pPr>
            <a:r>
              <a:rPr lang="en-US" sz="1700" b="1" dirty="0">
                <a:solidFill>
                  <a:srgbClr val="111111"/>
                </a:solidFill>
              </a:rPr>
              <a:t>Final Summary</a:t>
            </a:r>
            <a:endParaRPr lang="en-US" sz="1700" dirty="0"/>
          </a:p>
        </p:txBody>
      </p:sp>
      <p:sp>
        <p:nvSpPr>
          <p:cNvPr id="7" name="Text 5"/>
          <p:cNvSpPr/>
          <p:nvPr/>
        </p:nvSpPr>
        <p:spPr>
          <a:xfrm>
            <a:off x="1078992" y="5650992"/>
            <a:ext cx="9820656" cy="274320"/>
          </a:xfrm>
          <a:prstGeom prst="rect">
            <a:avLst/>
          </a:prstGeom>
          <a:noFill/>
          <a:ln/>
        </p:spPr>
        <p:txBody>
          <a:bodyPr wrap="square" lIns="381" tIns="381" rIns="381" bIns="381" rtlCol="0" anchor="t"/>
          <a:lstStyle/>
          <a:p>
            <a:pPr indent="0" marL="0">
              <a:buNone/>
            </a:pPr>
            <a:r>
              <a:rPr lang="en-US" sz="1400" dirty="0">
                <a:solidFill>
                  <a:srgbClr val="222222"/>
                </a:solidFill>
              </a:rPr>
              <a:t>The system is not only a logging pipeline. It is a practical assistant that helps operators understand incidents, decide what matters first, and take better action with more confidence.</a:t>
            </a:r>
            <a:endParaRPr lang="en-US" sz="1400" dirty="0"/>
          </a:p>
        </p:txBody>
      </p:sp>
      <p:sp>
        <p:nvSpPr>
          <p:cNvPr id="25" name="Slide Number Placeholder 0"/>
          <p:cNvSpPr>
            <a:spLocks noGrp="1"/>
          </p:cNvSpPr>
          <p:nvPr>
            <p:ph type="sldNum" sz="quarter" idx="4294967295"/>
          </p:nvPr>
        </p:nvSpPr>
        <p:spPr>
          <a:xfrm>
            <a:off x="10972800" y="6400800"/>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777777"/>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253254"/>
                </a:solidFill>
                <a:latin typeface="Calibri"/>
              </a:rPr>
              <a:t>Dashboard Snapshot</a:t>
            </a:r>
          </a:p>
        </p:txBody>
      </p:sp>
      <p:sp>
        <p:nvSpPr>
          <p:cNvPr id="3" name="TextBox 2"/>
          <p:cNvSpPr txBox="1"/>
          <p:nvPr/>
        </p:nvSpPr>
        <p:spPr>
          <a:xfrm>
            <a:off x="548640" y="868680"/>
            <a:ext cx="10972800" cy="411480"/>
          </a:xfrm>
          <a:prstGeom prst="rect">
            <a:avLst/>
          </a:prstGeom>
          <a:noFill/>
        </p:spPr>
        <p:txBody>
          <a:bodyPr wrap="none">
            <a:spAutoFit/>
          </a:bodyPr>
          <a:lstStyle/>
          <a:p>
            <a:r>
              <a:rPr sz="1400">
                <a:solidFill>
                  <a:srgbClr val="5A5A5A"/>
                </a:solidFill>
                <a:latin typeface="Calibri"/>
              </a:rPr>
              <a:t>Paste the latest dashboard screen capture in the empty area below.</a:t>
            </a:r>
          </a:p>
        </p:txBody>
      </p:sp>
      <p:sp>
        <p:nvSpPr>
          <p:cNvPr id="4" name="Rectangle 3"/>
          <p:cNvSpPr/>
          <p:nvPr/>
        </p:nvSpPr>
        <p:spPr>
          <a:xfrm>
            <a:off x="685800" y="1325880"/>
            <a:ext cx="10789920" cy="4892040"/>
          </a:xfrm>
          <a:prstGeom prst="rect">
            <a:avLst/>
          </a:prstGeom>
          <a:solidFill>
            <a:srgbClr val="FAFAFA"/>
          </a:solidFill>
          <a:ln w="190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3063240"/>
            <a:ext cx="8229600" cy="548640"/>
          </a:xfrm>
          <a:prstGeom prst="rect">
            <a:avLst/>
          </a:prstGeom>
          <a:noFill/>
        </p:spPr>
        <p:txBody>
          <a:bodyPr wrap="none">
            <a:spAutoFit/>
          </a:bodyPr>
          <a:lstStyle/>
          <a:p>
            <a:pPr algn="ctr"/>
            <a:r>
              <a:rPr sz="2400" b="1">
                <a:solidFill>
                  <a:srgbClr val="828282"/>
                </a:solidFill>
                <a:latin typeface="Calibri"/>
              </a:rPr>
              <a:t>Dashboard image area</a:t>
            </a:r>
          </a:p>
        </p:txBody>
      </p:sp>
      <p:sp>
        <p:nvSpPr>
          <p:cNvPr id="6" name="TextBox 5"/>
          <p:cNvSpPr txBox="1"/>
          <p:nvPr/>
        </p:nvSpPr>
        <p:spPr>
          <a:xfrm>
            <a:off x="2011680" y="3566160"/>
            <a:ext cx="8046720" cy="411480"/>
          </a:xfrm>
          <a:prstGeom prst="rect">
            <a:avLst/>
          </a:prstGeom>
          <a:noFill/>
        </p:spPr>
        <p:txBody>
          <a:bodyPr wrap="none">
            <a:spAutoFit/>
          </a:bodyPr>
          <a:lstStyle/>
          <a:p>
            <a:pPr algn="ctr"/>
            <a:r>
              <a:rPr sz="1200">
                <a:solidFill>
                  <a:srgbClr val="828282"/>
                </a:solidFill>
                <a:latin typeface="Calibri"/>
              </a:rPr>
              <a:t>Recommended image size: wide screen dashboard screenshot</a:t>
            </a:r>
          </a:p>
        </p:txBody>
      </p:sp>
      <p:sp>
        <p:nvSpPr>
          <p:cNvPr id="7" name="TextBox 6"/>
          <p:cNvSpPr txBox="1"/>
          <p:nvPr/>
        </p:nvSpPr>
        <p:spPr>
          <a:xfrm>
            <a:off x="731520" y="6355080"/>
            <a:ext cx="10607040" cy="274320"/>
          </a:xfrm>
          <a:prstGeom prst="rect">
            <a:avLst/>
          </a:prstGeom>
          <a:noFill/>
        </p:spPr>
        <p:txBody>
          <a:bodyPr wrap="none">
            <a:spAutoFit/>
          </a:bodyPr>
          <a:lstStyle/>
          <a:p>
            <a:r>
              <a:rPr sz="1000">
                <a:solidFill>
                  <a:srgbClr val="646464"/>
                </a:solidFill>
                <a:latin typeface="Calibri"/>
              </a:rPr>
              <a:t>Use this slide during the demo to show live incidents, ranked actions, and pipeline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Operation Assistance</dc:title>
  <dc:subject>Remote Operation Assistance project report</dc:subject>
  <dc:creator>OpenAI</dc:creator>
  <cp:lastModifiedBy>OpenAI</cp:lastModifiedBy>
  <cp:revision>1</cp:revision>
  <dcterms:created xsi:type="dcterms:W3CDTF">2026-03-28T20:04:22Z</dcterms:created>
  <dcterms:modified xsi:type="dcterms:W3CDTF">2026-03-28T20:04:22Z</dcterms:modified>
</cp:coreProperties>
</file>